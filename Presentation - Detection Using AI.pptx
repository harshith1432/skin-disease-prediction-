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Garet Bold" charset="1" panose="00000000000000000000"/>
      <p:regular r:id="rId16"/>
    </p:embeddedFont>
    <p:embeddedFont>
      <p:font typeface="Helvetica World" charset="1" panose="020B0500040000020004"/>
      <p:regular r:id="rId17"/>
    </p:embeddedFont>
    <p:embeddedFont>
      <p:font typeface="Helvetica World Bold" charset="1" panose="020B0800040000020004"/>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A2A6C"/>
        </a:solidFill>
      </p:bgPr>
    </p:bg>
    <p:spTree>
      <p:nvGrpSpPr>
        <p:cNvPr id="1" name=""/>
        <p:cNvGrpSpPr/>
        <p:nvPr/>
      </p:nvGrpSpPr>
      <p:grpSpPr>
        <a:xfrm>
          <a:off x="0" y="0"/>
          <a:ext cx="0" cy="0"/>
          <a:chOff x="0" y="0"/>
          <a:chExt cx="0" cy="0"/>
        </a:xfrm>
      </p:grpSpPr>
      <p:grpSp>
        <p:nvGrpSpPr>
          <p:cNvPr name="Group 2" id="2"/>
          <p:cNvGrpSpPr/>
          <p:nvPr/>
        </p:nvGrpSpPr>
        <p:grpSpPr>
          <a:xfrm rot="7458190">
            <a:off x="10477411" y="-4291124"/>
            <a:ext cx="13610886" cy="8302196"/>
            <a:chOff x="0" y="0"/>
            <a:chExt cx="1476351" cy="900526"/>
          </a:xfrm>
        </p:grpSpPr>
        <p:sp>
          <p:nvSpPr>
            <p:cNvPr name="Freeform 3" id="3"/>
            <p:cNvSpPr/>
            <p:nvPr/>
          </p:nvSpPr>
          <p:spPr>
            <a:xfrm flipH="false" flipV="false" rot="0">
              <a:off x="0" y="0"/>
              <a:ext cx="1476351" cy="900526"/>
            </a:xfrm>
            <a:custGeom>
              <a:avLst/>
              <a:gdLst/>
              <a:ahLst/>
              <a:cxnLst/>
              <a:rect r="r" b="b" t="t" l="l"/>
              <a:pathLst>
                <a:path h="900526" w="1476351">
                  <a:moveTo>
                    <a:pt x="0" y="0"/>
                  </a:moveTo>
                  <a:lnTo>
                    <a:pt x="1476351" y="0"/>
                  </a:lnTo>
                  <a:lnTo>
                    <a:pt x="1476351" y="900526"/>
                  </a:lnTo>
                  <a:lnTo>
                    <a:pt x="0" y="900526"/>
                  </a:lnTo>
                  <a:close/>
                </a:path>
              </a:pathLst>
            </a:custGeom>
            <a:solidFill>
              <a:srgbClr val="FFFFFF"/>
            </a:solidFill>
            <a:ln cap="sq">
              <a:noFill/>
              <a:prstDash val="solid"/>
              <a:miter/>
            </a:ln>
          </p:spPr>
        </p:sp>
        <p:sp>
          <p:nvSpPr>
            <p:cNvPr name="TextBox 4" id="4"/>
            <p:cNvSpPr txBox="true"/>
            <p:nvPr/>
          </p:nvSpPr>
          <p:spPr>
            <a:xfrm>
              <a:off x="0" y="-161925"/>
              <a:ext cx="1476351" cy="1062451"/>
            </a:xfrm>
            <a:prstGeom prst="rect">
              <a:avLst/>
            </a:prstGeom>
          </p:spPr>
          <p:txBody>
            <a:bodyPr anchor="ctr" rtlCol="false" tIns="123349" lIns="123349" bIns="123349" rIns="123349"/>
            <a:lstStyle/>
            <a:p>
              <a:pPr algn="ctr" marL="0" indent="0" lvl="0">
                <a:lnSpc>
                  <a:spcPts val="11200"/>
                </a:lnSpc>
                <a:spcBef>
                  <a:spcPct val="0"/>
                </a:spcBef>
              </a:pPr>
            </a:p>
          </p:txBody>
        </p:sp>
      </p:grpSp>
      <p:grpSp>
        <p:nvGrpSpPr>
          <p:cNvPr name="Group 5" id="5"/>
          <p:cNvGrpSpPr>
            <a:grpSpLocks noChangeAspect="true"/>
          </p:cNvGrpSpPr>
          <p:nvPr/>
        </p:nvGrpSpPr>
        <p:grpSpPr>
          <a:xfrm rot="5400000">
            <a:off x="9296383" y="1330628"/>
            <a:ext cx="8302229" cy="8302196"/>
            <a:chOff x="0" y="0"/>
            <a:chExt cx="6350000" cy="6349975"/>
          </a:xfrm>
        </p:grpSpPr>
        <p:sp>
          <p:nvSpPr>
            <p:cNvPr name="Freeform 6" id="6"/>
            <p:cNvSpPr/>
            <p:nvPr/>
          </p:nvSpPr>
          <p:spPr>
            <a:xfrm flipH="false" flipV="false" rot="0">
              <a:off x="0" y="0"/>
              <a:ext cx="6350000" cy="6349974"/>
            </a:xfrm>
            <a:custGeom>
              <a:avLst/>
              <a:gdLst/>
              <a:ahLst/>
              <a:cxnLst/>
              <a:rect r="r" b="b" t="t" l="l"/>
              <a:pathLst>
                <a:path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solidFill>
              <a:srgbClr val="FFFFFF"/>
            </a:solidFill>
            <a:ln w="12700">
              <a:solidFill>
                <a:srgbClr val="000000"/>
              </a:solidFill>
            </a:ln>
          </p:spPr>
        </p:sp>
      </p:grpSp>
      <p:grpSp>
        <p:nvGrpSpPr>
          <p:cNvPr name="Group 7" id="7"/>
          <p:cNvGrpSpPr/>
          <p:nvPr/>
        </p:nvGrpSpPr>
        <p:grpSpPr>
          <a:xfrm rot="0">
            <a:off x="10004210" y="2038438"/>
            <a:ext cx="6886575" cy="6886575"/>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0" t="0" r="0" b="0"/>
              </a:stretch>
            </a:blipFill>
          </p:spPr>
        </p:sp>
      </p:grpSp>
      <p:sp>
        <p:nvSpPr>
          <p:cNvPr name="TextBox 9" id="9"/>
          <p:cNvSpPr txBox="true"/>
          <p:nvPr/>
        </p:nvSpPr>
        <p:spPr>
          <a:xfrm rot="0">
            <a:off x="666750" y="2620303"/>
            <a:ext cx="9337460" cy="3527231"/>
          </a:xfrm>
          <a:prstGeom prst="rect">
            <a:avLst/>
          </a:prstGeom>
        </p:spPr>
        <p:txBody>
          <a:bodyPr anchor="t" rtlCol="false" tIns="0" lIns="0" bIns="0" rIns="0">
            <a:spAutoFit/>
          </a:bodyPr>
          <a:lstStyle/>
          <a:p>
            <a:pPr algn="l" marL="0" indent="0" lvl="0">
              <a:lnSpc>
                <a:spcPts val="9230"/>
              </a:lnSpc>
            </a:pPr>
            <a:r>
              <a:rPr lang="en-US" b="true" sz="8391" spc="209">
                <a:solidFill>
                  <a:srgbClr val="FFFFFF"/>
                </a:solidFill>
                <a:latin typeface="Garet Bold"/>
                <a:ea typeface="Garet Bold"/>
                <a:cs typeface="Garet Bold"/>
                <a:sym typeface="Garet Bold"/>
              </a:rPr>
              <a:t>SKIN DISEASE DETECTION SYSTEM</a:t>
            </a:r>
          </a:p>
        </p:txBody>
      </p:sp>
      <p:sp>
        <p:nvSpPr>
          <p:cNvPr name="Freeform 10" id="10"/>
          <p:cNvSpPr/>
          <p:nvPr/>
        </p:nvSpPr>
        <p:spPr>
          <a:xfrm flipH="false" flipV="false" rot="0">
            <a:off x="666750" y="666750"/>
            <a:ext cx="895350" cy="895350"/>
          </a:xfrm>
          <a:custGeom>
            <a:avLst/>
            <a:gdLst/>
            <a:ahLst/>
            <a:cxnLst/>
            <a:rect r="r" b="b" t="t" l="l"/>
            <a:pathLst>
              <a:path h="895350" w="895350">
                <a:moveTo>
                  <a:pt x="0" y="0"/>
                </a:moveTo>
                <a:lnTo>
                  <a:pt x="895350" y="0"/>
                </a:lnTo>
                <a:lnTo>
                  <a:pt x="895350" y="895350"/>
                </a:lnTo>
                <a:lnTo>
                  <a:pt x="0" y="89535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2058190">
            <a:off x="-8315153" y="-2517302"/>
            <a:ext cx="13610886" cy="8302196"/>
            <a:chOff x="0" y="0"/>
            <a:chExt cx="1476351" cy="900526"/>
          </a:xfrm>
        </p:grpSpPr>
        <p:sp>
          <p:nvSpPr>
            <p:cNvPr name="Freeform 3" id="3"/>
            <p:cNvSpPr/>
            <p:nvPr/>
          </p:nvSpPr>
          <p:spPr>
            <a:xfrm flipH="false" flipV="false" rot="0">
              <a:off x="0" y="0"/>
              <a:ext cx="1476351" cy="900526"/>
            </a:xfrm>
            <a:custGeom>
              <a:avLst/>
              <a:gdLst/>
              <a:ahLst/>
              <a:cxnLst/>
              <a:rect r="r" b="b" t="t" l="l"/>
              <a:pathLst>
                <a:path h="900526" w="1476351">
                  <a:moveTo>
                    <a:pt x="0" y="0"/>
                  </a:moveTo>
                  <a:lnTo>
                    <a:pt x="1476351" y="0"/>
                  </a:lnTo>
                  <a:lnTo>
                    <a:pt x="1476351" y="900526"/>
                  </a:lnTo>
                  <a:lnTo>
                    <a:pt x="0" y="900526"/>
                  </a:lnTo>
                  <a:close/>
                </a:path>
              </a:pathLst>
            </a:custGeom>
            <a:solidFill>
              <a:srgbClr val="1A2A6C"/>
            </a:solidFill>
            <a:ln cap="sq">
              <a:noFill/>
              <a:prstDash val="solid"/>
              <a:miter/>
            </a:ln>
          </p:spPr>
        </p:sp>
        <p:sp>
          <p:nvSpPr>
            <p:cNvPr name="TextBox 4" id="4"/>
            <p:cNvSpPr txBox="true"/>
            <p:nvPr/>
          </p:nvSpPr>
          <p:spPr>
            <a:xfrm>
              <a:off x="0" y="-161925"/>
              <a:ext cx="1476351" cy="1062451"/>
            </a:xfrm>
            <a:prstGeom prst="rect">
              <a:avLst/>
            </a:prstGeom>
          </p:spPr>
          <p:txBody>
            <a:bodyPr anchor="ctr" rtlCol="false" tIns="123349" lIns="123349" bIns="123349" rIns="123349"/>
            <a:lstStyle/>
            <a:p>
              <a:pPr algn="ctr" marL="0" indent="0" lvl="0">
                <a:lnSpc>
                  <a:spcPts val="11200"/>
                </a:lnSpc>
                <a:spcBef>
                  <a:spcPct val="0"/>
                </a:spcBef>
              </a:pPr>
            </a:p>
          </p:txBody>
        </p:sp>
      </p:grpSp>
      <p:grpSp>
        <p:nvGrpSpPr>
          <p:cNvPr name="Group 5" id="5"/>
          <p:cNvGrpSpPr/>
          <p:nvPr/>
        </p:nvGrpSpPr>
        <p:grpSpPr>
          <a:xfrm rot="0">
            <a:off x="9296400" y="666750"/>
            <a:ext cx="7191375" cy="8334375"/>
            <a:chOff x="0" y="0"/>
            <a:chExt cx="9588500" cy="11112500"/>
          </a:xfrm>
        </p:grpSpPr>
        <p:sp>
          <p:nvSpPr>
            <p:cNvPr name="TextBox 6" id="6"/>
            <p:cNvSpPr txBox="true"/>
            <p:nvPr/>
          </p:nvSpPr>
          <p:spPr>
            <a:xfrm rot="0">
              <a:off x="0" y="76200"/>
              <a:ext cx="9588500" cy="2871893"/>
            </a:xfrm>
            <a:prstGeom prst="rect">
              <a:avLst/>
            </a:prstGeom>
          </p:spPr>
          <p:txBody>
            <a:bodyPr anchor="t" rtlCol="false" tIns="0" lIns="0" bIns="0" rIns="0">
              <a:spAutoFit/>
            </a:bodyPr>
            <a:lstStyle/>
            <a:p>
              <a:pPr algn="l" marL="0" indent="0" lvl="0">
                <a:lnSpc>
                  <a:spcPts val="8359"/>
                </a:lnSpc>
              </a:pPr>
              <a:r>
                <a:rPr lang="en-US" b="true" sz="7599" spc="-189">
                  <a:solidFill>
                    <a:srgbClr val="1A2A6C"/>
                  </a:solidFill>
                  <a:latin typeface="Garet Bold"/>
                  <a:ea typeface="Garet Bold"/>
                  <a:cs typeface="Garet Bold"/>
                  <a:sym typeface="Garet Bold"/>
                </a:rPr>
                <a:t>Problem Statement</a:t>
              </a:r>
            </a:p>
          </p:txBody>
        </p:sp>
        <p:sp>
          <p:nvSpPr>
            <p:cNvPr name="TextBox 7" id="7"/>
            <p:cNvSpPr txBox="true"/>
            <p:nvPr/>
          </p:nvSpPr>
          <p:spPr>
            <a:xfrm rot="0">
              <a:off x="0" y="3733376"/>
              <a:ext cx="9588500" cy="7379124"/>
            </a:xfrm>
            <a:prstGeom prst="rect">
              <a:avLst/>
            </a:prstGeom>
          </p:spPr>
          <p:txBody>
            <a:bodyPr anchor="t" rtlCol="false" tIns="0" lIns="0" bIns="0" rIns="0">
              <a:spAutoFit/>
            </a:bodyPr>
            <a:lstStyle/>
            <a:p>
              <a:pPr algn="l" marL="0" indent="0" lvl="0">
                <a:lnSpc>
                  <a:spcPts val="3919"/>
                </a:lnSpc>
              </a:pPr>
              <a:r>
                <a:rPr lang="en-US" sz="2799">
                  <a:solidFill>
                    <a:srgbClr val="1A2A6C"/>
                  </a:solidFill>
                  <a:latin typeface="Helvetica World"/>
                  <a:ea typeface="Helvetica World"/>
                  <a:cs typeface="Helvetica World"/>
                  <a:sym typeface="Helvetica World"/>
                </a:rPr>
                <a:t>Early detection of skin diseases is critical for effective treatment and recovery. However, </a:t>
              </a:r>
              <a:r>
                <a:rPr lang="en-US" b="true" sz="2799">
                  <a:solidFill>
                    <a:srgbClr val="1A2A6C"/>
                  </a:solidFill>
                  <a:latin typeface="Helvetica World Bold"/>
                  <a:ea typeface="Helvetica World Bold"/>
                  <a:cs typeface="Helvetica World Bold"/>
                  <a:sym typeface="Helvetica World Bold"/>
                </a:rPr>
                <a:t>manual diagnosis</a:t>
              </a:r>
              <a:r>
                <a:rPr lang="en-US" sz="2799">
                  <a:solidFill>
                    <a:srgbClr val="1A2A6C"/>
                  </a:solidFill>
                  <a:latin typeface="Helvetica World"/>
                  <a:ea typeface="Helvetica World"/>
                  <a:cs typeface="Helvetica World"/>
                  <a:sym typeface="Helvetica World"/>
                </a:rPr>
                <a:t> often leads to delays and inaccuracies due to </a:t>
              </a:r>
              <a:r>
                <a:rPr lang="en-US" b="true" sz="2799">
                  <a:solidFill>
                    <a:srgbClr val="1A2A6C"/>
                  </a:solidFill>
                  <a:latin typeface="Helvetica World Bold"/>
                  <a:ea typeface="Helvetica World Bold"/>
                  <a:cs typeface="Helvetica World Bold"/>
                  <a:sym typeface="Helvetica World Bold"/>
                </a:rPr>
                <a:t>limited access to specialists</a:t>
              </a:r>
              <a:r>
                <a:rPr lang="en-US" sz="2799">
                  <a:solidFill>
                    <a:srgbClr val="1A2A6C"/>
                  </a:solidFill>
                  <a:latin typeface="Helvetica World"/>
                  <a:ea typeface="Helvetica World"/>
                  <a:cs typeface="Helvetica World"/>
                  <a:sym typeface="Helvetica World"/>
                </a:rPr>
                <a:t> and misinterpretation of symptoms. This lack of automation can result in missed opportunities for timely intervention. Therefore, implementing an AI-based solution is essential to enhance diagnostic accuracy and accessibility for patients, improving overall health outcomes.</a:t>
              </a:r>
            </a:p>
          </p:txBody>
        </p:sp>
      </p:grpSp>
      <p:grpSp>
        <p:nvGrpSpPr>
          <p:cNvPr name="Group 8" id="8"/>
          <p:cNvGrpSpPr/>
          <p:nvPr/>
        </p:nvGrpSpPr>
        <p:grpSpPr>
          <a:xfrm rot="0">
            <a:off x="-39072" y="1318054"/>
            <a:ext cx="8302229" cy="8302196"/>
            <a:chOff x="0" y="0"/>
            <a:chExt cx="11069639" cy="11069594"/>
          </a:xfrm>
        </p:grpSpPr>
        <p:grpSp>
          <p:nvGrpSpPr>
            <p:cNvPr name="Group 9" id="9"/>
            <p:cNvGrpSpPr>
              <a:grpSpLocks noChangeAspect="true"/>
            </p:cNvGrpSpPr>
            <p:nvPr/>
          </p:nvGrpSpPr>
          <p:grpSpPr>
            <a:xfrm rot="0">
              <a:off x="0" y="0"/>
              <a:ext cx="11069639" cy="11069594"/>
              <a:chOff x="0" y="0"/>
              <a:chExt cx="6350000" cy="6349975"/>
            </a:xfrm>
          </p:grpSpPr>
          <p:sp>
            <p:nvSpPr>
              <p:cNvPr name="Freeform 10" id="10"/>
              <p:cNvSpPr/>
              <p:nvPr/>
            </p:nvSpPr>
            <p:spPr>
              <a:xfrm flipH="false" flipV="false" rot="0">
                <a:off x="0" y="0"/>
                <a:ext cx="6350000" cy="6349974"/>
              </a:xfrm>
              <a:custGeom>
                <a:avLst/>
                <a:gdLst/>
                <a:ahLst/>
                <a:cxnLst/>
                <a:rect r="r" b="b" t="t" l="l"/>
                <a:pathLst>
                  <a:path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solidFill>
                <a:srgbClr val="1A2A6C"/>
              </a:solidFill>
              <a:ln w="12700">
                <a:solidFill>
                  <a:srgbClr val="000000"/>
                </a:solidFill>
              </a:ln>
            </p:spPr>
          </p:sp>
        </p:grpSp>
        <p:grpSp>
          <p:nvGrpSpPr>
            <p:cNvPr name="Group 11" id="11"/>
            <p:cNvGrpSpPr/>
            <p:nvPr/>
          </p:nvGrpSpPr>
          <p:grpSpPr>
            <a:xfrm rot="0">
              <a:off x="943769" y="943747"/>
              <a:ext cx="9182100" cy="9182100"/>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0" t="0" r="0" b="0"/>
                </a:stretch>
              </a:blipFill>
            </p:spPr>
          </p:sp>
        </p:gr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A2A6C"/>
        </a:solidFill>
      </p:bgPr>
    </p:bg>
    <p:spTree>
      <p:nvGrpSpPr>
        <p:cNvPr id="1" name=""/>
        <p:cNvGrpSpPr/>
        <p:nvPr/>
      </p:nvGrpSpPr>
      <p:grpSpPr>
        <a:xfrm>
          <a:off x="0" y="0"/>
          <a:ext cx="0" cy="0"/>
          <a:chOff x="0" y="0"/>
          <a:chExt cx="0" cy="0"/>
        </a:xfrm>
      </p:grpSpPr>
      <p:sp>
        <p:nvSpPr>
          <p:cNvPr name="TextBox 2" id="2"/>
          <p:cNvSpPr txBox="true"/>
          <p:nvPr/>
        </p:nvSpPr>
        <p:spPr>
          <a:xfrm rot="0">
            <a:off x="801810" y="1638300"/>
            <a:ext cx="11506200" cy="1077595"/>
          </a:xfrm>
          <a:prstGeom prst="rect">
            <a:avLst/>
          </a:prstGeom>
        </p:spPr>
        <p:txBody>
          <a:bodyPr anchor="t" rtlCol="false" tIns="0" lIns="0" bIns="0" rIns="0">
            <a:spAutoFit/>
          </a:bodyPr>
          <a:lstStyle/>
          <a:p>
            <a:pPr algn="l" marL="0" indent="0" lvl="0">
              <a:lnSpc>
                <a:spcPts val="8359"/>
              </a:lnSpc>
            </a:pPr>
            <a:r>
              <a:rPr lang="en-US" b="true" sz="7599" spc="-189">
                <a:solidFill>
                  <a:srgbClr val="FFFFFF"/>
                </a:solidFill>
                <a:latin typeface="Garet Bold"/>
                <a:ea typeface="Garet Bold"/>
                <a:cs typeface="Garet Bold"/>
                <a:sym typeface="Garet Bold"/>
              </a:rPr>
              <a:t>Objectives</a:t>
            </a:r>
          </a:p>
        </p:txBody>
      </p:sp>
      <p:grpSp>
        <p:nvGrpSpPr>
          <p:cNvPr name="Group 3" id="3"/>
          <p:cNvGrpSpPr/>
          <p:nvPr/>
        </p:nvGrpSpPr>
        <p:grpSpPr>
          <a:xfrm rot="0">
            <a:off x="666750" y="3824972"/>
            <a:ext cx="4476998" cy="4014587"/>
            <a:chOff x="0" y="0"/>
            <a:chExt cx="5969330" cy="5352783"/>
          </a:xfrm>
        </p:grpSpPr>
        <p:sp>
          <p:nvSpPr>
            <p:cNvPr name="TextBox 4" id="4"/>
            <p:cNvSpPr txBox="true"/>
            <p:nvPr/>
          </p:nvSpPr>
          <p:spPr>
            <a:xfrm rot="0">
              <a:off x="0" y="-57150"/>
              <a:ext cx="5969330" cy="745301"/>
            </a:xfrm>
            <a:prstGeom prst="rect">
              <a:avLst/>
            </a:prstGeom>
          </p:spPr>
          <p:txBody>
            <a:bodyPr anchor="t" rtlCol="false" tIns="0" lIns="0" bIns="0" rIns="0">
              <a:spAutoFit/>
            </a:bodyPr>
            <a:lstStyle/>
            <a:p>
              <a:pPr algn="l" marL="0" indent="0" lvl="0">
                <a:lnSpc>
                  <a:spcPts val="4376"/>
                </a:lnSpc>
              </a:pPr>
              <a:r>
                <a:rPr lang="en-US" b="true" sz="3126">
                  <a:solidFill>
                    <a:srgbClr val="FFFFFF"/>
                  </a:solidFill>
                  <a:latin typeface="Helvetica World Bold"/>
                  <a:ea typeface="Helvetica World Bold"/>
                  <a:cs typeface="Helvetica World Bold"/>
                  <a:sym typeface="Helvetica World Bold"/>
                </a:rPr>
                <a:t>Accurate Classification</a:t>
              </a:r>
            </a:p>
          </p:txBody>
        </p:sp>
        <p:sp>
          <p:nvSpPr>
            <p:cNvPr name="TextBox 5" id="5"/>
            <p:cNvSpPr txBox="true"/>
            <p:nvPr/>
          </p:nvSpPr>
          <p:spPr>
            <a:xfrm rot="0">
              <a:off x="0" y="920960"/>
              <a:ext cx="5969330" cy="4431823"/>
            </a:xfrm>
            <a:prstGeom prst="rect">
              <a:avLst/>
            </a:prstGeom>
          </p:spPr>
          <p:txBody>
            <a:bodyPr anchor="t" rtlCol="false" tIns="0" lIns="0" bIns="0" rIns="0">
              <a:spAutoFit/>
            </a:bodyPr>
            <a:lstStyle/>
            <a:p>
              <a:pPr algn="l" marL="0" indent="0" lvl="0">
                <a:lnSpc>
                  <a:spcPts val="4376"/>
                </a:lnSpc>
              </a:pPr>
              <a:r>
                <a:rPr lang="en-US" sz="3126">
                  <a:solidFill>
                    <a:srgbClr val="FFFFFF"/>
                  </a:solidFill>
                  <a:latin typeface="Helvetica World"/>
                  <a:ea typeface="Helvetica World"/>
                  <a:cs typeface="Helvetica World"/>
                  <a:sym typeface="Helvetica World"/>
                </a:rPr>
                <a:t>The system aims for </a:t>
              </a:r>
              <a:r>
                <a:rPr lang="en-US" b="true" sz="3126">
                  <a:solidFill>
                    <a:srgbClr val="FFFFFF"/>
                  </a:solidFill>
                  <a:latin typeface="Helvetica World Bold"/>
                  <a:ea typeface="Helvetica World Bold"/>
                  <a:cs typeface="Helvetica World Bold"/>
                  <a:sym typeface="Helvetica World Bold"/>
                </a:rPr>
                <a:t>precise identification</a:t>
              </a:r>
              <a:r>
                <a:rPr lang="en-US" sz="3126">
                  <a:solidFill>
                    <a:srgbClr val="FFFFFF"/>
                  </a:solidFill>
                  <a:latin typeface="Helvetica World"/>
                  <a:ea typeface="Helvetica World"/>
                  <a:cs typeface="Helvetica World"/>
                  <a:sym typeface="Helvetica World"/>
                </a:rPr>
                <a:t> of skin diseases using advanced AI algorithms and MobileNetV2 embeddings.</a:t>
              </a:r>
            </a:p>
          </p:txBody>
        </p:sp>
      </p:grpSp>
      <p:grpSp>
        <p:nvGrpSpPr>
          <p:cNvPr name="Group 6" id="6"/>
          <p:cNvGrpSpPr/>
          <p:nvPr/>
        </p:nvGrpSpPr>
        <p:grpSpPr>
          <a:xfrm rot="0">
            <a:off x="7089806" y="3824972"/>
            <a:ext cx="4476998" cy="3504146"/>
            <a:chOff x="0" y="0"/>
            <a:chExt cx="5969330" cy="4672194"/>
          </a:xfrm>
        </p:grpSpPr>
        <p:sp>
          <p:nvSpPr>
            <p:cNvPr name="TextBox 7" id="7"/>
            <p:cNvSpPr txBox="true"/>
            <p:nvPr/>
          </p:nvSpPr>
          <p:spPr>
            <a:xfrm rot="0">
              <a:off x="0" y="-57150"/>
              <a:ext cx="5969330" cy="745301"/>
            </a:xfrm>
            <a:prstGeom prst="rect">
              <a:avLst/>
            </a:prstGeom>
          </p:spPr>
          <p:txBody>
            <a:bodyPr anchor="t" rtlCol="false" tIns="0" lIns="0" bIns="0" rIns="0">
              <a:spAutoFit/>
            </a:bodyPr>
            <a:lstStyle/>
            <a:p>
              <a:pPr algn="l" marL="0" indent="0" lvl="0">
                <a:lnSpc>
                  <a:spcPts val="4376"/>
                </a:lnSpc>
              </a:pPr>
              <a:r>
                <a:rPr lang="en-US" b="true" sz="3126">
                  <a:solidFill>
                    <a:srgbClr val="FFFFFF"/>
                  </a:solidFill>
                  <a:latin typeface="Helvetica World Bold"/>
                  <a:ea typeface="Helvetica World Bold"/>
                  <a:cs typeface="Helvetica World Bold"/>
                  <a:sym typeface="Helvetica World Bold"/>
                </a:rPr>
                <a:t>Similar Image Retrieval</a:t>
              </a:r>
            </a:p>
          </p:txBody>
        </p:sp>
        <p:sp>
          <p:nvSpPr>
            <p:cNvPr name="TextBox 8" id="8"/>
            <p:cNvSpPr txBox="true"/>
            <p:nvPr/>
          </p:nvSpPr>
          <p:spPr>
            <a:xfrm rot="0">
              <a:off x="0" y="920960"/>
              <a:ext cx="5969330" cy="3751235"/>
            </a:xfrm>
            <a:prstGeom prst="rect">
              <a:avLst/>
            </a:prstGeom>
          </p:spPr>
          <p:txBody>
            <a:bodyPr anchor="t" rtlCol="false" tIns="0" lIns="0" bIns="0" rIns="0">
              <a:spAutoFit/>
            </a:bodyPr>
            <a:lstStyle/>
            <a:p>
              <a:pPr algn="l" marL="0" indent="0" lvl="0">
                <a:lnSpc>
                  <a:spcPts val="4376"/>
                </a:lnSpc>
              </a:pPr>
              <a:r>
                <a:rPr lang="en-US" sz="3126">
                  <a:solidFill>
                    <a:srgbClr val="FFFFFF"/>
                  </a:solidFill>
                  <a:latin typeface="Helvetica World"/>
                  <a:ea typeface="Helvetica World"/>
                  <a:cs typeface="Helvetica World"/>
                  <a:sym typeface="Helvetica World"/>
                </a:rPr>
                <a:t>Users can retrieve similar cases through </a:t>
              </a:r>
              <a:r>
                <a:rPr lang="en-US" b="true" sz="3126">
                  <a:solidFill>
                    <a:srgbClr val="FFFFFF"/>
                  </a:solidFill>
                  <a:latin typeface="Helvetica World Bold"/>
                  <a:ea typeface="Helvetica World Bold"/>
                  <a:cs typeface="Helvetica World Bold"/>
                  <a:sym typeface="Helvetica World Bold"/>
                </a:rPr>
                <a:t>efficient matching algorithms</a:t>
              </a:r>
              <a:r>
                <a:rPr lang="en-US" sz="3126">
                  <a:solidFill>
                    <a:srgbClr val="FFFFFF"/>
                  </a:solidFill>
                  <a:latin typeface="Helvetica World"/>
                  <a:ea typeface="Helvetica World"/>
                  <a:cs typeface="Helvetica World"/>
                  <a:sym typeface="Helvetica World"/>
                </a:rPr>
                <a:t> that enhance diagnostic support and accuracy.</a:t>
              </a:r>
            </a:p>
          </p:txBody>
        </p:sp>
      </p:grpSp>
      <p:grpSp>
        <p:nvGrpSpPr>
          <p:cNvPr name="Group 9" id="9"/>
          <p:cNvGrpSpPr/>
          <p:nvPr/>
        </p:nvGrpSpPr>
        <p:grpSpPr>
          <a:xfrm rot="0">
            <a:off x="13512862" y="3824972"/>
            <a:ext cx="4476998" cy="4057124"/>
            <a:chOff x="0" y="0"/>
            <a:chExt cx="5969330" cy="5409499"/>
          </a:xfrm>
        </p:grpSpPr>
        <p:sp>
          <p:nvSpPr>
            <p:cNvPr name="TextBox 10" id="10"/>
            <p:cNvSpPr txBox="true"/>
            <p:nvPr/>
          </p:nvSpPr>
          <p:spPr>
            <a:xfrm rot="0">
              <a:off x="0" y="-57150"/>
              <a:ext cx="5969330" cy="745301"/>
            </a:xfrm>
            <a:prstGeom prst="rect">
              <a:avLst/>
            </a:prstGeom>
          </p:spPr>
          <p:txBody>
            <a:bodyPr anchor="t" rtlCol="false" tIns="0" lIns="0" bIns="0" rIns="0">
              <a:spAutoFit/>
            </a:bodyPr>
            <a:lstStyle/>
            <a:p>
              <a:pPr algn="l" marL="0" indent="0" lvl="0">
                <a:lnSpc>
                  <a:spcPts val="4376"/>
                </a:lnSpc>
              </a:pPr>
              <a:r>
                <a:rPr lang="en-US" b="true" sz="3126">
                  <a:solidFill>
                    <a:srgbClr val="FFFFFF"/>
                  </a:solidFill>
                  <a:latin typeface="Helvetica World Bold"/>
                  <a:ea typeface="Helvetica World Bold"/>
                  <a:cs typeface="Helvetica World Bold"/>
                  <a:sym typeface="Helvetica World Bold"/>
                </a:rPr>
                <a:t>Chat Support</a:t>
              </a:r>
            </a:p>
          </p:txBody>
        </p:sp>
        <p:sp>
          <p:nvSpPr>
            <p:cNvPr name="TextBox 11" id="11"/>
            <p:cNvSpPr txBox="true"/>
            <p:nvPr/>
          </p:nvSpPr>
          <p:spPr>
            <a:xfrm rot="0">
              <a:off x="0" y="920960"/>
              <a:ext cx="5969330" cy="4488539"/>
            </a:xfrm>
            <a:prstGeom prst="rect">
              <a:avLst/>
            </a:prstGeom>
          </p:spPr>
          <p:txBody>
            <a:bodyPr anchor="t" rtlCol="false" tIns="0" lIns="0" bIns="0" rIns="0">
              <a:spAutoFit/>
            </a:bodyPr>
            <a:lstStyle/>
            <a:p>
              <a:pPr algn="l" marL="0" indent="0" lvl="0">
                <a:lnSpc>
                  <a:spcPts val="4376"/>
                </a:lnSpc>
              </a:pPr>
              <a:r>
                <a:rPr lang="en-US" sz="3126">
                  <a:solidFill>
                    <a:srgbClr val="FFFFFF"/>
                  </a:solidFill>
                  <a:latin typeface="Helvetica World"/>
                  <a:ea typeface="Helvetica World"/>
                  <a:cs typeface="Helvetica World"/>
                  <a:sym typeface="Helvetica World"/>
                </a:rPr>
                <a:t>An integrated chat feature provides </a:t>
              </a:r>
              <a:r>
                <a:rPr lang="en-US" b="true" sz="3126">
                  <a:solidFill>
                    <a:srgbClr val="FFFFFF"/>
                  </a:solidFill>
                  <a:latin typeface="Helvetica World Bold"/>
                  <a:ea typeface="Helvetica World Bold"/>
                  <a:cs typeface="Helvetica World Bold"/>
                  <a:sym typeface="Helvetica World Bold"/>
                </a:rPr>
                <a:t>real-time assistance</a:t>
              </a:r>
              <a:r>
                <a:rPr lang="en-US" sz="3126">
                  <a:solidFill>
                    <a:srgbClr val="FFFFFF"/>
                  </a:solidFill>
                  <a:latin typeface="Helvetica World"/>
                  <a:ea typeface="Helvetica World"/>
                  <a:cs typeface="Helvetica World"/>
                  <a:sym typeface="Helvetica World"/>
                </a:rPr>
                <a:t> and suggestions based on user queries and uploaded images.</a:t>
              </a:r>
            </a:p>
          </p:txBody>
        </p:sp>
      </p:grpSp>
      <p:sp>
        <p:nvSpPr>
          <p:cNvPr name="Freeform 12" id="12"/>
          <p:cNvSpPr/>
          <p:nvPr/>
        </p:nvSpPr>
        <p:spPr>
          <a:xfrm flipH="false" flipV="false" rot="0">
            <a:off x="16725900" y="666750"/>
            <a:ext cx="895350" cy="895350"/>
          </a:xfrm>
          <a:custGeom>
            <a:avLst/>
            <a:gdLst/>
            <a:ahLst/>
            <a:cxnLst/>
            <a:rect r="r" b="b" t="t" l="l"/>
            <a:pathLst>
              <a:path h="895350" w="895350">
                <a:moveTo>
                  <a:pt x="0" y="0"/>
                </a:moveTo>
                <a:lnTo>
                  <a:pt x="895350" y="0"/>
                </a:lnTo>
                <a:lnTo>
                  <a:pt x="895350" y="895350"/>
                </a:lnTo>
                <a:lnTo>
                  <a:pt x="0" y="8953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transition spd="fast">
    <p:fade/>
  </p:transition>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2058190">
            <a:off x="-8315153" y="-2517302"/>
            <a:ext cx="13610886" cy="8302196"/>
            <a:chOff x="0" y="0"/>
            <a:chExt cx="1476351" cy="900526"/>
          </a:xfrm>
        </p:grpSpPr>
        <p:sp>
          <p:nvSpPr>
            <p:cNvPr name="Freeform 3" id="3"/>
            <p:cNvSpPr/>
            <p:nvPr/>
          </p:nvSpPr>
          <p:spPr>
            <a:xfrm flipH="false" flipV="false" rot="0">
              <a:off x="0" y="0"/>
              <a:ext cx="1476351" cy="900526"/>
            </a:xfrm>
            <a:custGeom>
              <a:avLst/>
              <a:gdLst/>
              <a:ahLst/>
              <a:cxnLst/>
              <a:rect r="r" b="b" t="t" l="l"/>
              <a:pathLst>
                <a:path h="900526" w="1476351">
                  <a:moveTo>
                    <a:pt x="0" y="0"/>
                  </a:moveTo>
                  <a:lnTo>
                    <a:pt x="1476351" y="0"/>
                  </a:lnTo>
                  <a:lnTo>
                    <a:pt x="1476351" y="900526"/>
                  </a:lnTo>
                  <a:lnTo>
                    <a:pt x="0" y="900526"/>
                  </a:lnTo>
                  <a:close/>
                </a:path>
              </a:pathLst>
            </a:custGeom>
            <a:solidFill>
              <a:srgbClr val="1A2A6C"/>
            </a:solidFill>
            <a:ln cap="sq">
              <a:noFill/>
              <a:prstDash val="solid"/>
              <a:miter/>
            </a:ln>
          </p:spPr>
        </p:sp>
        <p:sp>
          <p:nvSpPr>
            <p:cNvPr name="TextBox 4" id="4"/>
            <p:cNvSpPr txBox="true"/>
            <p:nvPr/>
          </p:nvSpPr>
          <p:spPr>
            <a:xfrm>
              <a:off x="0" y="-161925"/>
              <a:ext cx="1476351" cy="1062451"/>
            </a:xfrm>
            <a:prstGeom prst="rect">
              <a:avLst/>
            </a:prstGeom>
          </p:spPr>
          <p:txBody>
            <a:bodyPr anchor="ctr" rtlCol="false" tIns="123349" lIns="123349" bIns="123349" rIns="123349"/>
            <a:lstStyle/>
            <a:p>
              <a:pPr algn="ctr" marL="0" indent="0" lvl="0">
                <a:lnSpc>
                  <a:spcPts val="11200"/>
                </a:lnSpc>
                <a:spcBef>
                  <a:spcPct val="0"/>
                </a:spcBef>
              </a:pPr>
            </a:p>
          </p:txBody>
        </p:sp>
      </p:grpSp>
      <p:grpSp>
        <p:nvGrpSpPr>
          <p:cNvPr name="Group 5" id="5"/>
          <p:cNvGrpSpPr/>
          <p:nvPr/>
        </p:nvGrpSpPr>
        <p:grpSpPr>
          <a:xfrm rot="0">
            <a:off x="9296400" y="666750"/>
            <a:ext cx="7191375" cy="6705600"/>
            <a:chOff x="0" y="0"/>
            <a:chExt cx="9588500" cy="8940800"/>
          </a:xfrm>
        </p:grpSpPr>
        <p:sp>
          <p:nvSpPr>
            <p:cNvPr name="TextBox 6" id="6"/>
            <p:cNvSpPr txBox="true"/>
            <p:nvPr/>
          </p:nvSpPr>
          <p:spPr>
            <a:xfrm rot="0">
              <a:off x="0" y="76200"/>
              <a:ext cx="9588500" cy="1462193"/>
            </a:xfrm>
            <a:prstGeom prst="rect">
              <a:avLst/>
            </a:prstGeom>
          </p:spPr>
          <p:txBody>
            <a:bodyPr anchor="t" rtlCol="false" tIns="0" lIns="0" bIns="0" rIns="0">
              <a:spAutoFit/>
            </a:bodyPr>
            <a:lstStyle/>
            <a:p>
              <a:pPr algn="l" marL="0" indent="0" lvl="0">
                <a:lnSpc>
                  <a:spcPts val="8359"/>
                </a:lnSpc>
              </a:pPr>
              <a:r>
                <a:rPr lang="en-US" b="true" sz="7599" spc="-189">
                  <a:solidFill>
                    <a:srgbClr val="1A2A6C"/>
                  </a:solidFill>
                  <a:latin typeface="Garet Bold"/>
                  <a:ea typeface="Garet Bold"/>
                  <a:cs typeface="Garet Bold"/>
                  <a:sym typeface="Garet Bold"/>
                </a:rPr>
                <a:t>System Flow</a:t>
              </a:r>
            </a:p>
          </p:txBody>
        </p:sp>
        <p:sp>
          <p:nvSpPr>
            <p:cNvPr name="TextBox 7" id="7"/>
            <p:cNvSpPr txBox="true"/>
            <p:nvPr/>
          </p:nvSpPr>
          <p:spPr>
            <a:xfrm rot="0">
              <a:off x="0" y="2323676"/>
              <a:ext cx="9588500" cy="6617124"/>
            </a:xfrm>
            <a:prstGeom prst="rect">
              <a:avLst/>
            </a:prstGeom>
          </p:spPr>
          <p:txBody>
            <a:bodyPr anchor="t" rtlCol="false" tIns="0" lIns="0" bIns="0" rIns="0">
              <a:spAutoFit/>
            </a:bodyPr>
            <a:lstStyle/>
            <a:p>
              <a:pPr algn="l" marL="0" indent="0" lvl="0">
                <a:lnSpc>
                  <a:spcPts val="3919"/>
                </a:lnSpc>
              </a:pPr>
              <a:r>
                <a:rPr lang="en-US" sz="2799">
                  <a:solidFill>
                    <a:srgbClr val="1A2A6C"/>
                  </a:solidFill>
                  <a:latin typeface="Helvetica World"/>
                  <a:ea typeface="Helvetica World"/>
                  <a:cs typeface="Helvetica World"/>
                  <a:sym typeface="Helvetica World"/>
                </a:rPr>
                <a:t>This section outlines the </a:t>
              </a:r>
              <a:r>
                <a:rPr lang="en-US" b="true" sz="2799">
                  <a:solidFill>
                    <a:srgbClr val="1A2A6C"/>
                  </a:solidFill>
                  <a:latin typeface="Helvetica World Bold"/>
                  <a:ea typeface="Helvetica World Bold"/>
                  <a:cs typeface="Helvetica World Bold"/>
                  <a:sym typeface="Helvetica World Bold"/>
                </a:rPr>
                <a:t>workflow</a:t>
              </a:r>
              <a:r>
                <a:rPr lang="en-US" sz="2799">
                  <a:solidFill>
                    <a:srgbClr val="1A2A6C"/>
                  </a:solidFill>
                  <a:latin typeface="Helvetica World"/>
                  <a:ea typeface="Helvetica World"/>
                  <a:cs typeface="Helvetica World"/>
                  <a:sym typeface="Helvetica World"/>
                </a:rPr>
                <a:t> of the AI-based skin disease detection system. It begins with image upload, followed by preprocessing to enhance quality. The model then predicts the disease, generating embeddings for similarity matching. Finally, the system retrieves the nearest match and provides tailored suggestions, creating an efficient and user-friendly experience for accurate diagnosis and support.</a:t>
              </a:r>
            </a:p>
          </p:txBody>
        </p:sp>
      </p:grpSp>
      <p:grpSp>
        <p:nvGrpSpPr>
          <p:cNvPr name="Group 8" id="8"/>
          <p:cNvGrpSpPr/>
          <p:nvPr/>
        </p:nvGrpSpPr>
        <p:grpSpPr>
          <a:xfrm rot="0">
            <a:off x="-39072" y="1318054"/>
            <a:ext cx="8302229" cy="8302196"/>
            <a:chOff x="0" y="0"/>
            <a:chExt cx="11069639" cy="11069594"/>
          </a:xfrm>
        </p:grpSpPr>
        <p:grpSp>
          <p:nvGrpSpPr>
            <p:cNvPr name="Group 9" id="9"/>
            <p:cNvGrpSpPr>
              <a:grpSpLocks noChangeAspect="true"/>
            </p:cNvGrpSpPr>
            <p:nvPr/>
          </p:nvGrpSpPr>
          <p:grpSpPr>
            <a:xfrm rot="0">
              <a:off x="0" y="0"/>
              <a:ext cx="11069639" cy="11069594"/>
              <a:chOff x="0" y="0"/>
              <a:chExt cx="6350000" cy="6349975"/>
            </a:xfrm>
          </p:grpSpPr>
          <p:sp>
            <p:nvSpPr>
              <p:cNvPr name="Freeform 10" id="10"/>
              <p:cNvSpPr/>
              <p:nvPr/>
            </p:nvSpPr>
            <p:spPr>
              <a:xfrm flipH="false" flipV="false" rot="0">
                <a:off x="0" y="0"/>
                <a:ext cx="6350000" cy="6349974"/>
              </a:xfrm>
              <a:custGeom>
                <a:avLst/>
                <a:gdLst/>
                <a:ahLst/>
                <a:cxnLst/>
                <a:rect r="r" b="b" t="t" l="l"/>
                <a:pathLst>
                  <a:path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solidFill>
                <a:srgbClr val="1A2A6C"/>
              </a:solidFill>
              <a:ln w="12700">
                <a:solidFill>
                  <a:srgbClr val="000000"/>
                </a:solidFill>
              </a:ln>
            </p:spPr>
          </p:sp>
        </p:grpSp>
        <p:grpSp>
          <p:nvGrpSpPr>
            <p:cNvPr name="Group 11" id="11"/>
            <p:cNvGrpSpPr/>
            <p:nvPr/>
          </p:nvGrpSpPr>
          <p:grpSpPr>
            <a:xfrm rot="0">
              <a:off x="943769" y="943747"/>
              <a:ext cx="9182100" cy="9182100"/>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0" t="0" r="0" b="0"/>
                </a:stretch>
              </a:blipFill>
            </p:spPr>
          </p:sp>
        </p:grpSp>
      </p:grpSp>
    </p:spTree>
  </p:cSld>
  <p:clrMapOvr>
    <a:masterClrMapping/>
  </p:clrMapOvr>
  <p:transition spd="fast">
    <p:fade/>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A2A6C"/>
        </a:solidFill>
      </p:bgPr>
    </p:bg>
    <p:spTree>
      <p:nvGrpSpPr>
        <p:cNvPr id="1" name=""/>
        <p:cNvGrpSpPr/>
        <p:nvPr/>
      </p:nvGrpSpPr>
      <p:grpSpPr>
        <a:xfrm>
          <a:off x="0" y="0"/>
          <a:ext cx="0" cy="0"/>
          <a:chOff x="0" y="0"/>
          <a:chExt cx="0" cy="0"/>
        </a:xfrm>
      </p:grpSpPr>
      <p:grpSp>
        <p:nvGrpSpPr>
          <p:cNvPr name="Group 2" id="2"/>
          <p:cNvGrpSpPr/>
          <p:nvPr/>
        </p:nvGrpSpPr>
        <p:grpSpPr>
          <a:xfrm rot="2058190">
            <a:off x="-8315153" y="-2517302"/>
            <a:ext cx="13610886" cy="8302196"/>
            <a:chOff x="0" y="0"/>
            <a:chExt cx="1476351" cy="900526"/>
          </a:xfrm>
        </p:grpSpPr>
        <p:sp>
          <p:nvSpPr>
            <p:cNvPr name="Freeform 3" id="3"/>
            <p:cNvSpPr/>
            <p:nvPr/>
          </p:nvSpPr>
          <p:spPr>
            <a:xfrm flipH="false" flipV="false" rot="0">
              <a:off x="0" y="0"/>
              <a:ext cx="1476351" cy="900526"/>
            </a:xfrm>
            <a:custGeom>
              <a:avLst/>
              <a:gdLst/>
              <a:ahLst/>
              <a:cxnLst/>
              <a:rect r="r" b="b" t="t" l="l"/>
              <a:pathLst>
                <a:path h="900526" w="1476351">
                  <a:moveTo>
                    <a:pt x="0" y="0"/>
                  </a:moveTo>
                  <a:lnTo>
                    <a:pt x="1476351" y="0"/>
                  </a:lnTo>
                  <a:lnTo>
                    <a:pt x="1476351" y="900526"/>
                  </a:lnTo>
                  <a:lnTo>
                    <a:pt x="0" y="900526"/>
                  </a:lnTo>
                  <a:close/>
                </a:path>
              </a:pathLst>
            </a:custGeom>
            <a:solidFill>
              <a:srgbClr val="FFFFFF"/>
            </a:solidFill>
            <a:ln cap="sq">
              <a:noFill/>
              <a:prstDash val="solid"/>
              <a:miter/>
            </a:ln>
          </p:spPr>
        </p:sp>
        <p:sp>
          <p:nvSpPr>
            <p:cNvPr name="TextBox 4" id="4"/>
            <p:cNvSpPr txBox="true"/>
            <p:nvPr/>
          </p:nvSpPr>
          <p:spPr>
            <a:xfrm>
              <a:off x="0" y="-161925"/>
              <a:ext cx="1476351" cy="1062451"/>
            </a:xfrm>
            <a:prstGeom prst="rect">
              <a:avLst/>
            </a:prstGeom>
          </p:spPr>
          <p:txBody>
            <a:bodyPr anchor="ctr" rtlCol="false" tIns="123349" lIns="123349" bIns="123349" rIns="123349"/>
            <a:lstStyle/>
            <a:p>
              <a:pPr algn="ctr" marL="0" indent="0" lvl="0">
                <a:lnSpc>
                  <a:spcPts val="11200"/>
                </a:lnSpc>
                <a:spcBef>
                  <a:spcPct val="0"/>
                </a:spcBef>
              </a:pPr>
            </a:p>
          </p:txBody>
        </p:sp>
      </p:grpSp>
      <p:grpSp>
        <p:nvGrpSpPr>
          <p:cNvPr name="Group 5" id="5"/>
          <p:cNvGrpSpPr/>
          <p:nvPr/>
        </p:nvGrpSpPr>
        <p:grpSpPr>
          <a:xfrm rot="0">
            <a:off x="9296400" y="666750"/>
            <a:ext cx="7191375" cy="8296275"/>
            <a:chOff x="0" y="0"/>
            <a:chExt cx="9588500" cy="11061700"/>
          </a:xfrm>
        </p:grpSpPr>
        <p:sp>
          <p:nvSpPr>
            <p:cNvPr name="TextBox 6" id="6"/>
            <p:cNvSpPr txBox="true"/>
            <p:nvPr/>
          </p:nvSpPr>
          <p:spPr>
            <a:xfrm rot="0">
              <a:off x="0" y="76200"/>
              <a:ext cx="9588500" cy="2871893"/>
            </a:xfrm>
            <a:prstGeom prst="rect">
              <a:avLst/>
            </a:prstGeom>
          </p:spPr>
          <p:txBody>
            <a:bodyPr anchor="t" rtlCol="false" tIns="0" lIns="0" bIns="0" rIns="0">
              <a:spAutoFit/>
            </a:bodyPr>
            <a:lstStyle/>
            <a:p>
              <a:pPr algn="l" marL="0" indent="0" lvl="0">
                <a:lnSpc>
                  <a:spcPts val="8359"/>
                </a:lnSpc>
              </a:pPr>
              <a:r>
                <a:rPr lang="en-US" b="true" sz="7599" spc="-189">
                  <a:solidFill>
                    <a:srgbClr val="FFFFFF"/>
                  </a:solidFill>
                  <a:latin typeface="Garet Bold"/>
                  <a:ea typeface="Garet Bold"/>
                  <a:cs typeface="Garet Bold"/>
                  <a:sym typeface="Garet Bold"/>
                </a:rPr>
                <a:t>Model Architecture</a:t>
              </a:r>
            </a:p>
          </p:txBody>
        </p:sp>
        <p:sp>
          <p:nvSpPr>
            <p:cNvPr name="TextBox 7" id="7"/>
            <p:cNvSpPr txBox="true"/>
            <p:nvPr/>
          </p:nvSpPr>
          <p:spPr>
            <a:xfrm rot="0">
              <a:off x="0" y="3733376"/>
              <a:ext cx="9588500" cy="7328324"/>
            </a:xfrm>
            <a:prstGeom prst="rect">
              <a:avLst/>
            </a:prstGeom>
          </p:spPr>
          <p:txBody>
            <a:bodyPr anchor="t" rtlCol="false" tIns="0" lIns="0" bIns="0" rIns="0">
              <a:spAutoFit/>
            </a:bodyPr>
            <a:lstStyle/>
            <a:p>
              <a:pPr algn="l" marL="0" indent="0" lvl="0">
                <a:lnSpc>
                  <a:spcPts val="3919"/>
                </a:lnSpc>
              </a:pPr>
              <a:r>
                <a:rPr lang="en-US" sz="2799">
                  <a:solidFill>
                    <a:srgbClr val="FFFFFF"/>
                  </a:solidFill>
                  <a:latin typeface="Helvetica World"/>
                  <a:ea typeface="Helvetica World"/>
                  <a:cs typeface="Helvetica World"/>
                  <a:sym typeface="Helvetica World"/>
                </a:rPr>
                <a:t>MobileNetV2 is a light and efficient model designed for mobile and edge devices. It employs depthwise separable convolutions, significantly reducing the number of parameters while maintaining accuracy. This architecture enables effective </a:t>
              </a:r>
              <a:r>
                <a:rPr lang="en-US" b="true" sz="2799">
                  <a:solidFill>
                    <a:srgbClr val="FFFFFF"/>
                  </a:solidFill>
                  <a:latin typeface="Helvetica World Bold"/>
                  <a:ea typeface="Helvetica World Bold"/>
                  <a:cs typeface="Helvetica World Bold"/>
                  <a:sym typeface="Helvetica World Bold"/>
                </a:rPr>
                <a:t>embedding extraction</a:t>
              </a:r>
              <a:r>
                <a:rPr lang="en-US" sz="2799">
                  <a:solidFill>
                    <a:srgbClr val="FFFFFF"/>
                  </a:solidFill>
                  <a:latin typeface="Helvetica World"/>
                  <a:ea typeface="Helvetica World"/>
                  <a:cs typeface="Helvetica World"/>
                  <a:sym typeface="Helvetica World"/>
                </a:rPr>
                <a:t>, which is essential for classifying skin diseases. By leveraging transfer learning, MobileNetV2 allows for rapid adaptation to new datasets, improving overall model performance in real-world applications.</a:t>
              </a:r>
            </a:p>
          </p:txBody>
        </p:sp>
      </p:grpSp>
      <p:grpSp>
        <p:nvGrpSpPr>
          <p:cNvPr name="Group 8" id="8"/>
          <p:cNvGrpSpPr/>
          <p:nvPr/>
        </p:nvGrpSpPr>
        <p:grpSpPr>
          <a:xfrm rot="0">
            <a:off x="-39072" y="1318054"/>
            <a:ext cx="8302229" cy="8302196"/>
            <a:chOff x="0" y="0"/>
            <a:chExt cx="11069639" cy="11069594"/>
          </a:xfrm>
        </p:grpSpPr>
        <p:grpSp>
          <p:nvGrpSpPr>
            <p:cNvPr name="Group 9" id="9"/>
            <p:cNvGrpSpPr>
              <a:grpSpLocks noChangeAspect="true"/>
            </p:cNvGrpSpPr>
            <p:nvPr/>
          </p:nvGrpSpPr>
          <p:grpSpPr>
            <a:xfrm rot="0">
              <a:off x="0" y="0"/>
              <a:ext cx="11069639" cy="11069594"/>
              <a:chOff x="0" y="0"/>
              <a:chExt cx="6350000" cy="6349975"/>
            </a:xfrm>
          </p:grpSpPr>
          <p:sp>
            <p:nvSpPr>
              <p:cNvPr name="Freeform 10" id="10"/>
              <p:cNvSpPr/>
              <p:nvPr/>
            </p:nvSpPr>
            <p:spPr>
              <a:xfrm flipH="false" flipV="false" rot="0">
                <a:off x="0" y="0"/>
                <a:ext cx="6350000" cy="6349974"/>
              </a:xfrm>
              <a:custGeom>
                <a:avLst/>
                <a:gdLst/>
                <a:ahLst/>
                <a:cxnLst/>
                <a:rect r="r" b="b" t="t" l="l"/>
                <a:pathLst>
                  <a:path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solidFill>
                <a:srgbClr val="FFFFFF"/>
              </a:solidFill>
              <a:ln w="12700">
                <a:solidFill>
                  <a:srgbClr val="000000"/>
                </a:solidFill>
              </a:ln>
            </p:spPr>
          </p:sp>
        </p:grpSp>
        <p:grpSp>
          <p:nvGrpSpPr>
            <p:cNvPr name="Group 11" id="11"/>
            <p:cNvGrpSpPr/>
            <p:nvPr/>
          </p:nvGrpSpPr>
          <p:grpSpPr>
            <a:xfrm rot="0">
              <a:off x="943769" y="943747"/>
              <a:ext cx="9182100" cy="9182100"/>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0" t="0" r="0" b="0"/>
                </a:stretch>
              </a:blipFill>
            </p:spPr>
          </p:sp>
        </p:grpSp>
      </p:grpSp>
    </p:spTree>
  </p:cSld>
  <p:clrMapOvr>
    <a:masterClrMapping/>
  </p:clrMapOvr>
  <p:transition spd="fast">
    <p:fade/>
  </p:transition>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2058190">
            <a:off x="-8315153" y="-2517302"/>
            <a:ext cx="13610886" cy="8302196"/>
            <a:chOff x="0" y="0"/>
            <a:chExt cx="1476351" cy="900526"/>
          </a:xfrm>
        </p:grpSpPr>
        <p:sp>
          <p:nvSpPr>
            <p:cNvPr name="Freeform 3" id="3"/>
            <p:cNvSpPr/>
            <p:nvPr/>
          </p:nvSpPr>
          <p:spPr>
            <a:xfrm flipH="false" flipV="false" rot="0">
              <a:off x="0" y="0"/>
              <a:ext cx="1476351" cy="900526"/>
            </a:xfrm>
            <a:custGeom>
              <a:avLst/>
              <a:gdLst/>
              <a:ahLst/>
              <a:cxnLst/>
              <a:rect r="r" b="b" t="t" l="l"/>
              <a:pathLst>
                <a:path h="900526" w="1476351">
                  <a:moveTo>
                    <a:pt x="0" y="0"/>
                  </a:moveTo>
                  <a:lnTo>
                    <a:pt x="1476351" y="0"/>
                  </a:lnTo>
                  <a:lnTo>
                    <a:pt x="1476351" y="900526"/>
                  </a:lnTo>
                  <a:lnTo>
                    <a:pt x="0" y="900526"/>
                  </a:lnTo>
                  <a:close/>
                </a:path>
              </a:pathLst>
            </a:custGeom>
            <a:solidFill>
              <a:srgbClr val="1A2A6C"/>
            </a:solidFill>
            <a:ln cap="sq">
              <a:noFill/>
              <a:prstDash val="solid"/>
              <a:miter/>
            </a:ln>
          </p:spPr>
        </p:sp>
        <p:sp>
          <p:nvSpPr>
            <p:cNvPr name="TextBox 4" id="4"/>
            <p:cNvSpPr txBox="true"/>
            <p:nvPr/>
          </p:nvSpPr>
          <p:spPr>
            <a:xfrm>
              <a:off x="0" y="-161925"/>
              <a:ext cx="1476351" cy="1062451"/>
            </a:xfrm>
            <a:prstGeom prst="rect">
              <a:avLst/>
            </a:prstGeom>
          </p:spPr>
          <p:txBody>
            <a:bodyPr anchor="ctr" rtlCol="false" tIns="123349" lIns="123349" bIns="123349" rIns="123349"/>
            <a:lstStyle/>
            <a:p>
              <a:pPr algn="ctr" marL="0" indent="0" lvl="0">
                <a:lnSpc>
                  <a:spcPts val="11200"/>
                </a:lnSpc>
                <a:spcBef>
                  <a:spcPct val="0"/>
                </a:spcBef>
              </a:pPr>
            </a:p>
          </p:txBody>
        </p:sp>
      </p:grpSp>
      <p:grpSp>
        <p:nvGrpSpPr>
          <p:cNvPr name="Group 5" id="5"/>
          <p:cNvGrpSpPr/>
          <p:nvPr/>
        </p:nvGrpSpPr>
        <p:grpSpPr>
          <a:xfrm rot="0">
            <a:off x="9296400" y="666750"/>
            <a:ext cx="7191375" cy="8258175"/>
            <a:chOff x="0" y="0"/>
            <a:chExt cx="9588500" cy="11010900"/>
          </a:xfrm>
        </p:grpSpPr>
        <p:sp>
          <p:nvSpPr>
            <p:cNvPr name="TextBox 6" id="6"/>
            <p:cNvSpPr txBox="true"/>
            <p:nvPr/>
          </p:nvSpPr>
          <p:spPr>
            <a:xfrm rot="0">
              <a:off x="0" y="76200"/>
              <a:ext cx="9588500" cy="2871893"/>
            </a:xfrm>
            <a:prstGeom prst="rect">
              <a:avLst/>
            </a:prstGeom>
          </p:spPr>
          <p:txBody>
            <a:bodyPr anchor="t" rtlCol="false" tIns="0" lIns="0" bIns="0" rIns="0">
              <a:spAutoFit/>
            </a:bodyPr>
            <a:lstStyle/>
            <a:p>
              <a:pPr algn="l" marL="0" indent="0" lvl="0">
                <a:lnSpc>
                  <a:spcPts val="8359"/>
                </a:lnSpc>
              </a:pPr>
              <a:r>
                <a:rPr lang="en-US" b="true" sz="7599" spc="-189">
                  <a:solidFill>
                    <a:srgbClr val="1A2A6C"/>
                  </a:solidFill>
                  <a:latin typeface="Garet Bold"/>
                  <a:ea typeface="Garet Bold"/>
                  <a:cs typeface="Garet Bold"/>
                  <a:sym typeface="Garet Bold"/>
                </a:rPr>
                <a:t>Similarity Matching</a:t>
              </a:r>
            </a:p>
          </p:txBody>
        </p:sp>
        <p:sp>
          <p:nvSpPr>
            <p:cNvPr name="TextBox 7" id="7"/>
            <p:cNvSpPr txBox="true"/>
            <p:nvPr/>
          </p:nvSpPr>
          <p:spPr>
            <a:xfrm rot="0">
              <a:off x="0" y="3733376"/>
              <a:ext cx="9588500" cy="7277524"/>
            </a:xfrm>
            <a:prstGeom prst="rect">
              <a:avLst/>
            </a:prstGeom>
          </p:spPr>
          <p:txBody>
            <a:bodyPr anchor="t" rtlCol="false" tIns="0" lIns="0" bIns="0" rIns="0">
              <a:spAutoFit/>
            </a:bodyPr>
            <a:lstStyle/>
            <a:p>
              <a:pPr algn="l" marL="0" indent="0" lvl="0">
                <a:lnSpc>
                  <a:spcPts val="3919"/>
                </a:lnSpc>
              </a:pPr>
              <a:r>
                <a:rPr lang="en-US" sz="2799">
                  <a:solidFill>
                    <a:srgbClr val="1A2A6C"/>
                  </a:solidFill>
                  <a:latin typeface="Helvetica World"/>
                  <a:ea typeface="Helvetica World"/>
                  <a:cs typeface="Helvetica World"/>
                  <a:sym typeface="Helvetica World"/>
                </a:rPr>
                <a:t>The </a:t>
              </a:r>
              <a:r>
                <a:rPr lang="en-US" b="true" sz="2799">
                  <a:solidFill>
                    <a:srgbClr val="1A2A6C"/>
                  </a:solidFill>
                  <a:latin typeface="Helvetica World Bold"/>
                  <a:ea typeface="Helvetica World Bold"/>
                  <a:cs typeface="Helvetica World Bold"/>
                  <a:sym typeface="Helvetica World Bold"/>
                </a:rPr>
                <a:t>embeddings and similarity matching</a:t>
              </a:r>
              <a:r>
                <a:rPr lang="en-US" sz="2799">
                  <a:solidFill>
                    <a:srgbClr val="1A2A6C"/>
                  </a:solidFill>
                  <a:latin typeface="Helvetica World"/>
                  <a:ea typeface="Helvetica World"/>
                  <a:cs typeface="Helvetica World"/>
                  <a:sym typeface="Helvetica World"/>
                </a:rPr>
                <a:t> system utilizes L2-normalized vectors to represent images within a high-dimensional space. By employing cosine similarity, the system efficiently retrieves the nearest matches based on user-uploaded images. This approach enhances accuracy in classification and allows for the quick identification of similar cases, significantly improving the user experience in skin disease detection.</a:t>
              </a:r>
            </a:p>
          </p:txBody>
        </p:sp>
      </p:grpSp>
      <p:grpSp>
        <p:nvGrpSpPr>
          <p:cNvPr name="Group 8" id="8"/>
          <p:cNvGrpSpPr/>
          <p:nvPr/>
        </p:nvGrpSpPr>
        <p:grpSpPr>
          <a:xfrm rot="0">
            <a:off x="-39072" y="1318054"/>
            <a:ext cx="8302229" cy="8302196"/>
            <a:chOff x="0" y="0"/>
            <a:chExt cx="11069639" cy="11069594"/>
          </a:xfrm>
        </p:grpSpPr>
        <p:grpSp>
          <p:nvGrpSpPr>
            <p:cNvPr name="Group 9" id="9"/>
            <p:cNvGrpSpPr>
              <a:grpSpLocks noChangeAspect="true"/>
            </p:cNvGrpSpPr>
            <p:nvPr/>
          </p:nvGrpSpPr>
          <p:grpSpPr>
            <a:xfrm rot="0">
              <a:off x="0" y="0"/>
              <a:ext cx="11069639" cy="11069594"/>
              <a:chOff x="0" y="0"/>
              <a:chExt cx="6350000" cy="6349975"/>
            </a:xfrm>
          </p:grpSpPr>
          <p:sp>
            <p:nvSpPr>
              <p:cNvPr name="Freeform 10" id="10"/>
              <p:cNvSpPr/>
              <p:nvPr/>
            </p:nvSpPr>
            <p:spPr>
              <a:xfrm flipH="false" flipV="false" rot="0">
                <a:off x="0" y="0"/>
                <a:ext cx="6350000" cy="6349974"/>
              </a:xfrm>
              <a:custGeom>
                <a:avLst/>
                <a:gdLst/>
                <a:ahLst/>
                <a:cxnLst/>
                <a:rect r="r" b="b" t="t" l="l"/>
                <a:pathLst>
                  <a:path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solidFill>
                <a:srgbClr val="1A2A6C"/>
              </a:solidFill>
              <a:ln w="12700">
                <a:solidFill>
                  <a:srgbClr val="000000"/>
                </a:solidFill>
              </a:ln>
            </p:spPr>
          </p:sp>
        </p:grpSp>
        <p:grpSp>
          <p:nvGrpSpPr>
            <p:cNvPr name="Group 11" id="11"/>
            <p:cNvGrpSpPr/>
            <p:nvPr/>
          </p:nvGrpSpPr>
          <p:grpSpPr>
            <a:xfrm rot="0">
              <a:off x="943769" y="943747"/>
              <a:ext cx="9182100" cy="9182100"/>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0" t="0" r="0" b="0"/>
                </a:stretch>
              </a:blipFill>
            </p:spPr>
          </p:sp>
        </p:grpSp>
      </p:gr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A2A6C"/>
        </a:solidFill>
      </p:bgPr>
    </p:bg>
    <p:spTree>
      <p:nvGrpSpPr>
        <p:cNvPr id="1" name=""/>
        <p:cNvGrpSpPr/>
        <p:nvPr/>
      </p:nvGrpSpPr>
      <p:grpSpPr>
        <a:xfrm>
          <a:off x="0" y="0"/>
          <a:ext cx="0" cy="0"/>
          <a:chOff x="0" y="0"/>
          <a:chExt cx="0" cy="0"/>
        </a:xfrm>
      </p:grpSpPr>
      <p:grpSp>
        <p:nvGrpSpPr>
          <p:cNvPr name="Group 2" id="2"/>
          <p:cNvGrpSpPr/>
          <p:nvPr/>
        </p:nvGrpSpPr>
        <p:grpSpPr>
          <a:xfrm rot="2058190">
            <a:off x="-8315153" y="-2517302"/>
            <a:ext cx="13610886" cy="8302196"/>
            <a:chOff x="0" y="0"/>
            <a:chExt cx="1476351" cy="900526"/>
          </a:xfrm>
        </p:grpSpPr>
        <p:sp>
          <p:nvSpPr>
            <p:cNvPr name="Freeform 3" id="3"/>
            <p:cNvSpPr/>
            <p:nvPr/>
          </p:nvSpPr>
          <p:spPr>
            <a:xfrm flipH="false" flipV="false" rot="0">
              <a:off x="0" y="0"/>
              <a:ext cx="1476351" cy="900526"/>
            </a:xfrm>
            <a:custGeom>
              <a:avLst/>
              <a:gdLst/>
              <a:ahLst/>
              <a:cxnLst/>
              <a:rect r="r" b="b" t="t" l="l"/>
              <a:pathLst>
                <a:path h="900526" w="1476351">
                  <a:moveTo>
                    <a:pt x="0" y="0"/>
                  </a:moveTo>
                  <a:lnTo>
                    <a:pt x="1476351" y="0"/>
                  </a:lnTo>
                  <a:lnTo>
                    <a:pt x="1476351" y="900526"/>
                  </a:lnTo>
                  <a:lnTo>
                    <a:pt x="0" y="900526"/>
                  </a:lnTo>
                  <a:close/>
                </a:path>
              </a:pathLst>
            </a:custGeom>
            <a:solidFill>
              <a:srgbClr val="FFFFFF"/>
            </a:solidFill>
            <a:ln cap="sq">
              <a:noFill/>
              <a:prstDash val="solid"/>
              <a:miter/>
            </a:ln>
          </p:spPr>
        </p:sp>
        <p:sp>
          <p:nvSpPr>
            <p:cNvPr name="TextBox 4" id="4"/>
            <p:cNvSpPr txBox="true"/>
            <p:nvPr/>
          </p:nvSpPr>
          <p:spPr>
            <a:xfrm>
              <a:off x="0" y="-161925"/>
              <a:ext cx="1476351" cy="1062451"/>
            </a:xfrm>
            <a:prstGeom prst="rect">
              <a:avLst/>
            </a:prstGeom>
          </p:spPr>
          <p:txBody>
            <a:bodyPr anchor="ctr" rtlCol="false" tIns="123349" lIns="123349" bIns="123349" rIns="123349"/>
            <a:lstStyle/>
            <a:p>
              <a:pPr algn="ctr" marL="0" indent="0" lvl="0">
                <a:lnSpc>
                  <a:spcPts val="11200"/>
                </a:lnSpc>
                <a:spcBef>
                  <a:spcPct val="0"/>
                </a:spcBef>
              </a:pPr>
            </a:p>
          </p:txBody>
        </p:sp>
      </p:grpSp>
      <p:grpSp>
        <p:nvGrpSpPr>
          <p:cNvPr name="Group 5" id="5"/>
          <p:cNvGrpSpPr/>
          <p:nvPr/>
        </p:nvGrpSpPr>
        <p:grpSpPr>
          <a:xfrm rot="0">
            <a:off x="9296400" y="666750"/>
            <a:ext cx="7191375" cy="6743700"/>
            <a:chOff x="0" y="0"/>
            <a:chExt cx="9588500" cy="8991600"/>
          </a:xfrm>
        </p:grpSpPr>
        <p:sp>
          <p:nvSpPr>
            <p:cNvPr name="TextBox 6" id="6"/>
            <p:cNvSpPr txBox="true"/>
            <p:nvPr/>
          </p:nvSpPr>
          <p:spPr>
            <a:xfrm rot="0">
              <a:off x="0" y="76200"/>
              <a:ext cx="9588500" cy="1462193"/>
            </a:xfrm>
            <a:prstGeom prst="rect">
              <a:avLst/>
            </a:prstGeom>
          </p:spPr>
          <p:txBody>
            <a:bodyPr anchor="t" rtlCol="false" tIns="0" lIns="0" bIns="0" rIns="0">
              <a:spAutoFit/>
            </a:bodyPr>
            <a:lstStyle/>
            <a:p>
              <a:pPr algn="l" marL="0" indent="0" lvl="0">
                <a:lnSpc>
                  <a:spcPts val="8359"/>
                </a:lnSpc>
              </a:pPr>
              <a:r>
                <a:rPr lang="en-US" b="true" sz="7599" spc="-189">
                  <a:solidFill>
                    <a:srgbClr val="FFFFFF"/>
                  </a:solidFill>
                  <a:latin typeface="Garet Bold"/>
                  <a:ea typeface="Garet Bold"/>
                  <a:cs typeface="Garet Bold"/>
                  <a:sym typeface="Garet Bold"/>
                </a:rPr>
                <a:t>Flask Web App</a:t>
              </a:r>
            </a:p>
          </p:txBody>
        </p:sp>
        <p:sp>
          <p:nvSpPr>
            <p:cNvPr name="TextBox 7" id="7"/>
            <p:cNvSpPr txBox="true"/>
            <p:nvPr/>
          </p:nvSpPr>
          <p:spPr>
            <a:xfrm rot="0">
              <a:off x="0" y="2323676"/>
              <a:ext cx="9588500" cy="6667924"/>
            </a:xfrm>
            <a:prstGeom prst="rect">
              <a:avLst/>
            </a:prstGeom>
          </p:spPr>
          <p:txBody>
            <a:bodyPr anchor="t" rtlCol="false" tIns="0" lIns="0" bIns="0" rIns="0">
              <a:spAutoFit/>
            </a:bodyPr>
            <a:lstStyle/>
            <a:p>
              <a:pPr algn="l" marL="0" indent="0" lvl="0">
                <a:lnSpc>
                  <a:spcPts val="3919"/>
                </a:lnSpc>
              </a:pPr>
              <a:r>
                <a:rPr lang="en-US" sz="2799">
                  <a:solidFill>
                    <a:srgbClr val="FFFFFF"/>
                  </a:solidFill>
                  <a:latin typeface="Helvetica World"/>
                  <a:ea typeface="Helvetica World"/>
                  <a:cs typeface="Helvetica World"/>
                  <a:sym typeface="Helvetica World"/>
                </a:rPr>
                <a:t>The Flask web application serves as the backbone of our AI skin disease detection system. It facilitates seamless interaction through various backend routes, including </a:t>
              </a:r>
              <a:r>
                <a:rPr lang="en-US" b="true" sz="2799">
                  <a:solidFill>
                    <a:srgbClr val="FFFFFF"/>
                  </a:solidFill>
                  <a:latin typeface="Helvetica World Bold"/>
                  <a:ea typeface="Helvetica World Bold"/>
                  <a:cs typeface="Helvetica World Bold"/>
                  <a:sym typeface="Helvetica World Bold"/>
                </a:rPr>
                <a:t>/predict</a:t>
              </a:r>
              <a:r>
                <a:rPr lang="en-US" sz="2799">
                  <a:solidFill>
                    <a:srgbClr val="FFFFFF"/>
                  </a:solidFill>
                  <a:latin typeface="Helvetica World"/>
                  <a:ea typeface="Helvetica World"/>
                  <a:cs typeface="Helvetica World"/>
                  <a:sym typeface="Helvetica World"/>
                </a:rPr>
                <a:t> for image classification, </a:t>
              </a:r>
              <a:r>
                <a:rPr lang="en-US" b="true" sz="2799">
                  <a:solidFill>
                    <a:srgbClr val="FFFFFF"/>
                  </a:solidFill>
                  <a:latin typeface="Helvetica World Bold"/>
                  <a:ea typeface="Helvetica World Bold"/>
                  <a:cs typeface="Helvetica World Bold"/>
                  <a:sym typeface="Helvetica World Bold"/>
                </a:rPr>
                <a:t>/chat</a:t>
              </a:r>
              <a:r>
                <a:rPr lang="en-US" sz="2799">
                  <a:solidFill>
                    <a:srgbClr val="FFFFFF"/>
                  </a:solidFill>
                  <a:latin typeface="Helvetica World"/>
                  <a:ea typeface="Helvetica World"/>
                  <a:cs typeface="Helvetica World"/>
                  <a:sym typeface="Helvetica World"/>
                </a:rPr>
                <a:t> for user inquiries, and </a:t>
              </a:r>
              <a:r>
                <a:rPr lang="en-US" b="true" sz="2799">
                  <a:solidFill>
                    <a:srgbClr val="FFFFFF"/>
                  </a:solidFill>
                  <a:latin typeface="Helvetica World Bold"/>
                  <a:ea typeface="Helvetica World Bold"/>
                  <a:cs typeface="Helvetica World Bold"/>
                  <a:sym typeface="Helvetica World Bold"/>
                </a:rPr>
                <a:t>/matched</a:t>
              </a:r>
              <a:r>
                <a:rPr lang="en-US" sz="2799">
                  <a:solidFill>
                    <a:srgbClr val="FFFFFF"/>
                  </a:solidFill>
                  <a:latin typeface="Helvetica World"/>
                  <a:ea typeface="Helvetica World"/>
                  <a:cs typeface="Helvetica World"/>
                  <a:sym typeface="Helvetica World"/>
                </a:rPr>
                <a:t> for displaying similar cases. This setup ensures efficient communication between the user interface and the AI models, enhancing overall user experience and accessibility.</a:t>
              </a:r>
            </a:p>
          </p:txBody>
        </p:sp>
      </p:grpSp>
      <p:grpSp>
        <p:nvGrpSpPr>
          <p:cNvPr name="Group 8" id="8"/>
          <p:cNvGrpSpPr/>
          <p:nvPr/>
        </p:nvGrpSpPr>
        <p:grpSpPr>
          <a:xfrm rot="0">
            <a:off x="-39072" y="1318054"/>
            <a:ext cx="8302229" cy="8302196"/>
            <a:chOff x="0" y="0"/>
            <a:chExt cx="11069639" cy="11069594"/>
          </a:xfrm>
        </p:grpSpPr>
        <p:grpSp>
          <p:nvGrpSpPr>
            <p:cNvPr name="Group 9" id="9"/>
            <p:cNvGrpSpPr>
              <a:grpSpLocks noChangeAspect="true"/>
            </p:cNvGrpSpPr>
            <p:nvPr/>
          </p:nvGrpSpPr>
          <p:grpSpPr>
            <a:xfrm rot="0">
              <a:off x="0" y="0"/>
              <a:ext cx="11069639" cy="11069594"/>
              <a:chOff x="0" y="0"/>
              <a:chExt cx="6350000" cy="6349975"/>
            </a:xfrm>
          </p:grpSpPr>
          <p:sp>
            <p:nvSpPr>
              <p:cNvPr name="Freeform 10" id="10"/>
              <p:cNvSpPr/>
              <p:nvPr/>
            </p:nvSpPr>
            <p:spPr>
              <a:xfrm flipH="false" flipV="false" rot="0">
                <a:off x="0" y="0"/>
                <a:ext cx="6350000" cy="6349974"/>
              </a:xfrm>
              <a:custGeom>
                <a:avLst/>
                <a:gdLst/>
                <a:ahLst/>
                <a:cxnLst/>
                <a:rect r="r" b="b" t="t" l="l"/>
                <a:pathLst>
                  <a:path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solidFill>
                <a:srgbClr val="FFFFFF"/>
              </a:solidFill>
              <a:ln w="12700">
                <a:solidFill>
                  <a:srgbClr val="000000"/>
                </a:solidFill>
              </a:ln>
            </p:spPr>
          </p:sp>
        </p:grpSp>
        <p:grpSp>
          <p:nvGrpSpPr>
            <p:cNvPr name="Group 11" id="11"/>
            <p:cNvGrpSpPr/>
            <p:nvPr/>
          </p:nvGrpSpPr>
          <p:grpSpPr>
            <a:xfrm rot="0">
              <a:off x="943769" y="943747"/>
              <a:ext cx="9182100" cy="9182100"/>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0" t="0" r="0" b="0"/>
                </a:stretch>
              </a:blipFill>
            </p:spPr>
          </p:sp>
        </p:grpSp>
      </p:grpSp>
    </p:spTree>
  </p:cSld>
  <p:clrMapOvr>
    <a:masterClrMapping/>
  </p:clrMapOvr>
  <p:transition spd="fast">
    <p:fade/>
  </p:transition>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666750" y="742950"/>
            <a:ext cx="11506200" cy="1077595"/>
          </a:xfrm>
          <a:prstGeom prst="rect">
            <a:avLst/>
          </a:prstGeom>
        </p:spPr>
        <p:txBody>
          <a:bodyPr anchor="t" rtlCol="false" tIns="0" lIns="0" bIns="0" rIns="0">
            <a:spAutoFit/>
          </a:bodyPr>
          <a:lstStyle/>
          <a:p>
            <a:pPr algn="l" marL="0" indent="0" lvl="0">
              <a:lnSpc>
                <a:spcPts val="8359"/>
              </a:lnSpc>
            </a:pPr>
            <a:r>
              <a:rPr lang="en-US" b="true" sz="7599" spc="-189">
                <a:solidFill>
                  <a:srgbClr val="1A2A6C"/>
                </a:solidFill>
                <a:latin typeface="Garet Bold"/>
                <a:ea typeface="Garet Bold"/>
                <a:cs typeface="Garet Bold"/>
                <a:sym typeface="Garet Bold"/>
              </a:rPr>
              <a:t>Chat Assistant</a:t>
            </a:r>
          </a:p>
        </p:txBody>
      </p:sp>
      <p:grpSp>
        <p:nvGrpSpPr>
          <p:cNvPr name="Group 3" id="3"/>
          <p:cNvGrpSpPr/>
          <p:nvPr/>
        </p:nvGrpSpPr>
        <p:grpSpPr>
          <a:xfrm rot="0">
            <a:off x="980771" y="3419841"/>
            <a:ext cx="4651373" cy="4215146"/>
            <a:chOff x="0" y="0"/>
            <a:chExt cx="6201831" cy="5620195"/>
          </a:xfrm>
        </p:grpSpPr>
        <p:sp>
          <p:nvSpPr>
            <p:cNvPr name="TextBox 4" id="4"/>
            <p:cNvSpPr txBox="true"/>
            <p:nvPr/>
          </p:nvSpPr>
          <p:spPr>
            <a:xfrm rot="0">
              <a:off x="0" y="-57150"/>
              <a:ext cx="6201831" cy="772104"/>
            </a:xfrm>
            <a:prstGeom prst="rect">
              <a:avLst/>
            </a:prstGeom>
          </p:spPr>
          <p:txBody>
            <a:bodyPr anchor="t" rtlCol="false" tIns="0" lIns="0" bIns="0" rIns="0">
              <a:spAutoFit/>
            </a:bodyPr>
            <a:lstStyle/>
            <a:p>
              <a:pPr algn="l" marL="0" indent="0" lvl="0">
                <a:lnSpc>
                  <a:spcPts val="4546"/>
                </a:lnSpc>
              </a:pPr>
              <a:r>
                <a:rPr lang="en-US" b="true" sz="3247">
                  <a:solidFill>
                    <a:srgbClr val="3B5998"/>
                  </a:solidFill>
                  <a:latin typeface="Helvetica World Bold"/>
                  <a:ea typeface="Helvetica World Bold"/>
                  <a:cs typeface="Helvetica World Bold"/>
                  <a:sym typeface="Helvetica World Bold"/>
                </a:rPr>
                <a:t>Suggestions</a:t>
              </a:r>
            </a:p>
          </p:txBody>
        </p:sp>
        <p:sp>
          <p:nvSpPr>
            <p:cNvPr name="TextBox 5" id="5"/>
            <p:cNvSpPr txBox="true"/>
            <p:nvPr/>
          </p:nvSpPr>
          <p:spPr>
            <a:xfrm rot="0">
              <a:off x="0" y="959056"/>
              <a:ext cx="6201831" cy="4661138"/>
            </a:xfrm>
            <a:prstGeom prst="rect">
              <a:avLst/>
            </a:prstGeom>
          </p:spPr>
          <p:txBody>
            <a:bodyPr anchor="t" rtlCol="false" tIns="0" lIns="0" bIns="0" rIns="0">
              <a:spAutoFit/>
            </a:bodyPr>
            <a:lstStyle/>
            <a:p>
              <a:pPr algn="l" marL="0" indent="0" lvl="0">
                <a:lnSpc>
                  <a:spcPts val="4546"/>
                </a:lnSpc>
              </a:pPr>
              <a:r>
                <a:rPr lang="en-US" sz="3247">
                  <a:solidFill>
                    <a:srgbClr val="1A2A6C"/>
                  </a:solidFill>
                  <a:latin typeface="Helvetica World"/>
                  <a:ea typeface="Helvetica World"/>
                  <a:cs typeface="Helvetica World"/>
                  <a:sym typeface="Helvetica World"/>
                </a:rPr>
                <a:t>The system provides </a:t>
              </a:r>
              <a:r>
                <a:rPr lang="en-US" b="true" sz="3247">
                  <a:solidFill>
                    <a:srgbClr val="1A2A6C"/>
                  </a:solidFill>
                  <a:latin typeface="Helvetica World Bold"/>
                  <a:ea typeface="Helvetica World Bold"/>
                  <a:cs typeface="Helvetica World Bold"/>
                  <a:sym typeface="Helvetica World Bold"/>
                </a:rPr>
                <a:t>label-aware suggestions</a:t>
              </a:r>
              <a:r>
                <a:rPr lang="en-US" sz="3247">
                  <a:solidFill>
                    <a:srgbClr val="1A2A6C"/>
                  </a:solidFill>
                  <a:latin typeface="Helvetica World"/>
                  <a:ea typeface="Helvetica World"/>
                  <a:cs typeface="Helvetica World"/>
                  <a:sym typeface="Helvetica World"/>
                </a:rPr>
                <a:t> based on user input, enhancing personalized assistance for skin conditions.</a:t>
              </a:r>
            </a:p>
          </p:txBody>
        </p:sp>
      </p:grpSp>
      <p:grpSp>
        <p:nvGrpSpPr>
          <p:cNvPr name="Group 6" id="6"/>
          <p:cNvGrpSpPr/>
          <p:nvPr/>
        </p:nvGrpSpPr>
        <p:grpSpPr>
          <a:xfrm rot="0">
            <a:off x="6793772" y="3419841"/>
            <a:ext cx="4651373" cy="4126759"/>
            <a:chOff x="0" y="0"/>
            <a:chExt cx="6201831" cy="5502345"/>
          </a:xfrm>
        </p:grpSpPr>
        <p:sp>
          <p:nvSpPr>
            <p:cNvPr name="TextBox 7" id="7"/>
            <p:cNvSpPr txBox="true"/>
            <p:nvPr/>
          </p:nvSpPr>
          <p:spPr>
            <a:xfrm rot="0">
              <a:off x="0" y="-57150"/>
              <a:ext cx="6201831" cy="772104"/>
            </a:xfrm>
            <a:prstGeom prst="rect">
              <a:avLst/>
            </a:prstGeom>
          </p:spPr>
          <p:txBody>
            <a:bodyPr anchor="t" rtlCol="false" tIns="0" lIns="0" bIns="0" rIns="0">
              <a:spAutoFit/>
            </a:bodyPr>
            <a:lstStyle/>
            <a:p>
              <a:pPr algn="l" marL="0" indent="0" lvl="0">
                <a:lnSpc>
                  <a:spcPts val="4546"/>
                </a:lnSpc>
              </a:pPr>
              <a:r>
                <a:rPr lang="en-US" b="true" sz="3247">
                  <a:solidFill>
                    <a:srgbClr val="3B5998"/>
                  </a:solidFill>
                  <a:latin typeface="Helvetica World Bold"/>
                  <a:ea typeface="Helvetica World Bold"/>
                  <a:cs typeface="Helvetica World Bold"/>
                  <a:sym typeface="Helvetica World Bold"/>
                </a:rPr>
                <a:t>TF-IDF Search</a:t>
              </a:r>
            </a:p>
          </p:txBody>
        </p:sp>
        <p:sp>
          <p:nvSpPr>
            <p:cNvPr name="TextBox 8" id="8"/>
            <p:cNvSpPr txBox="true"/>
            <p:nvPr/>
          </p:nvSpPr>
          <p:spPr>
            <a:xfrm rot="0">
              <a:off x="0" y="959056"/>
              <a:ext cx="6201831" cy="4543289"/>
            </a:xfrm>
            <a:prstGeom prst="rect">
              <a:avLst/>
            </a:prstGeom>
          </p:spPr>
          <p:txBody>
            <a:bodyPr anchor="t" rtlCol="false" tIns="0" lIns="0" bIns="0" rIns="0">
              <a:spAutoFit/>
            </a:bodyPr>
            <a:lstStyle/>
            <a:p>
              <a:pPr algn="l" marL="0" indent="0" lvl="0">
                <a:lnSpc>
                  <a:spcPts val="4546"/>
                </a:lnSpc>
              </a:pPr>
              <a:r>
                <a:rPr lang="en-US" sz="3247">
                  <a:solidFill>
                    <a:srgbClr val="1A2A6C"/>
                  </a:solidFill>
                  <a:latin typeface="Helvetica World"/>
                  <a:ea typeface="Helvetica World"/>
                  <a:cs typeface="Helvetica World"/>
                  <a:sym typeface="Helvetica World"/>
                </a:rPr>
                <a:t>Utilizing TF-IDF search, the assistant retrieves relevant information quickly, improving the user experience significantly.</a:t>
              </a:r>
            </a:p>
          </p:txBody>
        </p:sp>
      </p:grpSp>
      <p:grpSp>
        <p:nvGrpSpPr>
          <p:cNvPr name="Group 9" id="9"/>
          <p:cNvGrpSpPr/>
          <p:nvPr/>
        </p:nvGrpSpPr>
        <p:grpSpPr>
          <a:xfrm rot="0">
            <a:off x="12607927" y="3419841"/>
            <a:ext cx="4651373" cy="4701275"/>
            <a:chOff x="0" y="0"/>
            <a:chExt cx="6201831" cy="6268367"/>
          </a:xfrm>
        </p:grpSpPr>
        <p:sp>
          <p:nvSpPr>
            <p:cNvPr name="TextBox 10" id="10"/>
            <p:cNvSpPr txBox="true"/>
            <p:nvPr/>
          </p:nvSpPr>
          <p:spPr>
            <a:xfrm rot="0">
              <a:off x="0" y="-57150"/>
              <a:ext cx="6201831" cy="772104"/>
            </a:xfrm>
            <a:prstGeom prst="rect">
              <a:avLst/>
            </a:prstGeom>
          </p:spPr>
          <p:txBody>
            <a:bodyPr anchor="t" rtlCol="false" tIns="0" lIns="0" bIns="0" rIns="0">
              <a:spAutoFit/>
            </a:bodyPr>
            <a:lstStyle/>
            <a:p>
              <a:pPr algn="l" marL="0" indent="0" lvl="0">
                <a:lnSpc>
                  <a:spcPts val="4546"/>
                </a:lnSpc>
              </a:pPr>
              <a:r>
                <a:rPr lang="en-US" b="true" sz="3247">
                  <a:solidFill>
                    <a:srgbClr val="3B5998"/>
                  </a:solidFill>
                  <a:latin typeface="Helvetica World Bold"/>
                  <a:ea typeface="Helvetica World Bold"/>
                  <a:cs typeface="Helvetica World Bold"/>
                  <a:sym typeface="Helvetica World Bold"/>
                </a:rPr>
                <a:t>Example Thumbnails</a:t>
              </a:r>
            </a:p>
          </p:txBody>
        </p:sp>
        <p:sp>
          <p:nvSpPr>
            <p:cNvPr name="TextBox 11" id="11"/>
            <p:cNvSpPr txBox="true"/>
            <p:nvPr/>
          </p:nvSpPr>
          <p:spPr>
            <a:xfrm rot="0">
              <a:off x="0" y="959056"/>
              <a:ext cx="6201831" cy="5309311"/>
            </a:xfrm>
            <a:prstGeom prst="rect">
              <a:avLst/>
            </a:prstGeom>
          </p:spPr>
          <p:txBody>
            <a:bodyPr anchor="t" rtlCol="false" tIns="0" lIns="0" bIns="0" rIns="0">
              <a:spAutoFit/>
            </a:bodyPr>
            <a:lstStyle/>
            <a:p>
              <a:pPr algn="l" marL="0" indent="0" lvl="0">
                <a:lnSpc>
                  <a:spcPts val="4546"/>
                </a:lnSpc>
              </a:pPr>
              <a:r>
                <a:rPr lang="en-US" sz="3247">
                  <a:solidFill>
                    <a:srgbClr val="1A2A6C"/>
                  </a:solidFill>
                  <a:latin typeface="Helvetica World"/>
                  <a:ea typeface="Helvetica World"/>
                  <a:cs typeface="Helvetica World"/>
                  <a:sym typeface="Helvetica World"/>
                </a:rPr>
                <a:t>Users receive visual references through example thumbnails, allowing better understanding and identification of similar cases.</a:t>
              </a:r>
            </a:p>
          </p:txBody>
        </p:sp>
      </p:grpSp>
      <p:sp>
        <p:nvSpPr>
          <p:cNvPr name="Freeform 12" id="12"/>
          <p:cNvSpPr/>
          <p:nvPr/>
        </p:nvSpPr>
        <p:spPr>
          <a:xfrm flipH="false" flipV="false" rot="0">
            <a:off x="16725900" y="666750"/>
            <a:ext cx="895350" cy="895350"/>
          </a:xfrm>
          <a:custGeom>
            <a:avLst/>
            <a:gdLst/>
            <a:ahLst/>
            <a:cxnLst/>
            <a:rect r="r" b="b" t="t" l="l"/>
            <a:pathLst>
              <a:path h="895350" w="895350">
                <a:moveTo>
                  <a:pt x="0" y="0"/>
                </a:moveTo>
                <a:lnTo>
                  <a:pt x="895350" y="0"/>
                </a:lnTo>
                <a:lnTo>
                  <a:pt x="895350" y="895350"/>
                </a:lnTo>
                <a:lnTo>
                  <a:pt x="0" y="8953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transition spd="fast">
    <p:fade/>
  </p:transition>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A2A6C"/>
        </a:solidFill>
      </p:bgPr>
    </p:bg>
    <p:spTree>
      <p:nvGrpSpPr>
        <p:cNvPr id="1" name=""/>
        <p:cNvGrpSpPr/>
        <p:nvPr/>
      </p:nvGrpSpPr>
      <p:grpSpPr>
        <a:xfrm>
          <a:off x="0" y="0"/>
          <a:ext cx="0" cy="0"/>
          <a:chOff x="0" y="0"/>
          <a:chExt cx="0" cy="0"/>
        </a:xfrm>
      </p:grpSpPr>
      <p:sp>
        <p:nvSpPr>
          <p:cNvPr name="TextBox 2" id="2"/>
          <p:cNvSpPr txBox="true"/>
          <p:nvPr/>
        </p:nvSpPr>
        <p:spPr>
          <a:xfrm rot="0">
            <a:off x="666750" y="742950"/>
            <a:ext cx="14077950" cy="2134870"/>
          </a:xfrm>
          <a:prstGeom prst="rect">
            <a:avLst/>
          </a:prstGeom>
        </p:spPr>
        <p:txBody>
          <a:bodyPr anchor="t" rtlCol="false" tIns="0" lIns="0" bIns="0" rIns="0">
            <a:spAutoFit/>
          </a:bodyPr>
          <a:lstStyle/>
          <a:p>
            <a:pPr algn="l" marL="0" indent="0" lvl="0">
              <a:lnSpc>
                <a:spcPts val="8359"/>
              </a:lnSpc>
            </a:pPr>
            <a:r>
              <a:rPr lang="en-US" b="true" sz="7599" spc="-189">
                <a:solidFill>
                  <a:srgbClr val="FFFFFF"/>
                </a:solidFill>
                <a:latin typeface="Garet Bold"/>
                <a:ea typeface="Garet Bold"/>
                <a:cs typeface="Garet Bold"/>
                <a:sym typeface="Garet Bold"/>
              </a:rPr>
              <a:t>Technologies Used for Skin Disease Detection</a:t>
            </a:r>
          </a:p>
        </p:txBody>
      </p:sp>
      <p:grpSp>
        <p:nvGrpSpPr>
          <p:cNvPr name="Group 3" id="3"/>
          <p:cNvGrpSpPr/>
          <p:nvPr/>
        </p:nvGrpSpPr>
        <p:grpSpPr>
          <a:xfrm rot="0">
            <a:off x="666750" y="3958205"/>
            <a:ext cx="15418546" cy="4333626"/>
            <a:chOff x="0" y="0"/>
            <a:chExt cx="20558062" cy="5778168"/>
          </a:xfrm>
        </p:grpSpPr>
        <p:sp>
          <p:nvSpPr>
            <p:cNvPr name="TextBox 4" id="4"/>
            <p:cNvSpPr txBox="true"/>
            <p:nvPr/>
          </p:nvSpPr>
          <p:spPr>
            <a:xfrm rot="0">
              <a:off x="0" y="1296870"/>
              <a:ext cx="20558062" cy="4481298"/>
            </a:xfrm>
            <a:prstGeom prst="rect">
              <a:avLst/>
            </a:prstGeom>
          </p:spPr>
          <p:txBody>
            <a:bodyPr anchor="t" rtlCol="false" tIns="0" lIns="0" bIns="0" rIns="0">
              <a:spAutoFit/>
            </a:bodyPr>
            <a:lstStyle/>
            <a:p>
              <a:pPr algn="l" marL="832109" indent="-416055" lvl="1">
                <a:lnSpc>
                  <a:spcPts val="5395"/>
                </a:lnSpc>
                <a:buFont typeface="Arial"/>
                <a:buChar char="•"/>
              </a:pPr>
              <a:r>
                <a:rPr lang="en-US" sz="3854">
                  <a:solidFill>
                    <a:srgbClr val="FFFFFF"/>
                  </a:solidFill>
                  <a:latin typeface="Helvetica World"/>
                  <a:ea typeface="Helvetica World"/>
                  <a:cs typeface="Helvetica World"/>
                  <a:sym typeface="Helvetica World"/>
                </a:rPr>
                <a:t>Python for backend development</a:t>
              </a:r>
            </a:p>
            <a:p>
              <a:pPr algn="l" marL="832109" indent="-416055" lvl="1">
                <a:lnSpc>
                  <a:spcPts val="5395"/>
                </a:lnSpc>
                <a:buFont typeface="Arial"/>
                <a:buChar char="•"/>
              </a:pPr>
              <a:r>
                <a:rPr lang="en-US" sz="3854">
                  <a:solidFill>
                    <a:srgbClr val="FFFFFF"/>
                  </a:solidFill>
                  <a:latin typeface="Helvetica World"/>
                  <a:ea typeface="Helvetica World"/>
                  <a:cs typeface="Helvetica World"/>
                  <a:sym typeface="Helvetica World"/>
                </a:rPr>
                <a:t>Flask for web application framework</a:t>
              </a:r>
            </a:p>
            <a:p>
              <a:pPr algn="l" marL="832109" indent="-416055" lvl="1">
                <a:lnSpc>
                  <a:spcPts val="5395"/>
                </a:lnSpc>
                <a:buFont typeface="Arial"/>
                <a:buChar char="•"/>
              </a:pPr>
              <a:r>
                <a:rPr lang="en-US" sz="3854">
                  <a:solidFill>
                    <a:srgbClr val="FFFFFF"/>
                  </a:solidFill>
                  <a:latin typeface="Helvetica World"/>
                  <a:ea typeface="Helvetica World"/>
                  <a:cs typeface="Helvetica World"/>
                  <a:sym typeface="Helvetica World"/>
                </a:rPr>
                <a:t>TensorFlow for machine learning models</a:t>
              </a:r>
            </a:p>
            <a:p>
              <a:pPr algn="l" marL="832109" indent="-416055" lvl="1">
                <a:lnSpc>
                  <a:spcPts val="5395"/>
                </a:lnSpc>
                <a:buFont typeface="Arial"/>
                <a:buChar char="•"/>
              </a:pPr>
              <a:r>
                <a:rPr lang="en-US" sz="3854">
                  <a:solidFill>
                    <a:srgbClr val="FFFFFF"/>
                  </a:solidFill>
                  <a:latin typeface="Helvetica World"/>
                  <a:ea typeface="Helvetica World"/>
                  <a:cs typeface="Helvetica World"/>
                  <a:sym typeface="Helvetica World"/>
                </a:rPr>
                <a:t>MobileNetV2 for image classification</a:t>
              </a:r>
            </a:p>
            <a:p>
              <a:pPr algn="l" marL="832109" indent="-416055" lvl="1">
                <a:lnSpc>
                  <a:spcPts val="5395"/>
                </a:lnSpc>
                <a:buFont typeface="Arial"/>
                <a:buChar char="•"/>
              </a:pPr>
              <a:r>
                <a:rPr lang="en-US" sz="3854">
                  <a:solidFill>
                    <a:srgbClr val="FFFFFF"/>
                  </a:solidFill>
                  <a:latin typeface="Helvetica World"/>
                  <a:ea typeface="Helvetica World"/>
                  <a:cs typeface="Helvetica World"/>
                  <a:sym typeface="Helvetica World"/>
                </a:rPr>
                <a:t>HTML/CSS/JS for frontend interface</a:t>
              </a:r>
            </a:p>
          </p:txBody>
        </p:sp>
        <p:sp>
          <p:nvSpPr>
            <p:cNvPr name="TextBox 5" id="5"/>
            <p:cNvSpPr txBox="true"/>
            <p:nvPr/>
          </p:nvSpPr>
          <p:spPr>
            <a:xfrm rot="0">
              <a:off x="0" y="-66675"/>
              <a:ext cx="20558062" cy="915103"/>
            </a:xfrm>
            <a:prstGeom prst="rect">
              <a:avLst/>
            </a:prstGeom>
          </p:spPr>
          <p:txBody>
            <a:bodyPr anchor="t" rtlCol="false" tIns="0" lIns="0" bIns="0" rIns="0">
              <a:spAutoFit/>
            </a:bodyPr>
            <a:lstStyle/>
            <a:p>
              <a:pPr algn="l" marL="0" indent="0" lvl="0">
                <a:lnSpc>
                  <a:spcPts val="5395"/>
                </a:lnSpc>
              </a:pPr>
              <a:r>
                <a:rPr lang="en-US" b="true" sz="3854">
                  <a:solidFill>
                    <a:srgbClr val="FFFFFF"/>
                  </a:solidFill>
                  <a:latin typeface="Helvetica World Bold"/>
                  <a:ea typeface="Helvetica World Bold"/>
                  <a:cs typeface="Helvetica World Bold"/>
                  <a:sym typeface="Helvetica World Bold"/>
                </a:rPr>
                <a:t>Key components of our tech stack</a:t>
              </a:r>
            </a:p>
          </p:txBody>
        </p:sp>
      </p:grpSp>
      <p:sp>
        <p:nvSpPr>
          <p:cNvPr name="Freeform 6" id="6"/>
          <p:cNvSpPr/>
          <p:nvPr/>
        </p:nvSpPr>
        <p:spPr>
          <a:xfrm flipH="false" flipV="false" rot="0">
            <a:off x="16725900" y="8724900"/>
            <a:ext cx="895350" cy="895350"/>
          </a:xfrm>
          <a:custGeom>
            <a:avLst/>
            <a:gdLst/>
            <a:ahLst/>
            <a:cxnLst/>
            <a:rect r="r" b="b" t="t" l="l"/>
            <a:pathLst>
              <a:path h="895350" w="895350">
                <a:moveTo>
                  <a:pt x="0" y="0"/>
                </a:moveTo>
                <a:lnTo>
                  <a:pt x="895350" y="0"/>
                </a:lnTo>
                <a:lnTo>
                  <a:pt x="895350" y="895350"/>
                </a:lnTo>
                <a:lnTo>
                  <a:pt x="0" y="8953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transition spd="fast">
    <p:fade/>
  </p:transition>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2058190">
            <a:off x="-8315153" y="-2517302"/>
            <a:ext cx="13610886" cy="8302196"/>
            <a:chOff x="0" y="0"/>
            <a:chExt cx="1476351" cy="900526"/>
          </a:xfrm>
        </p:grpSpPr>
        <p:sp>
          <p:nvSpPr>
            <p:cNvPr name="Freeform 3" id="3"/>
            <p:cNvSpPr/>
            <p:nvPr/>
          </p:nvSpPr>
          <p:spPr>
            <a:xfrm flipH="false" flipV="false" rot="0">
              <a:off x="0" y="0"/>
              <a:ext cx="1476351" cy="900526"/>
            </a:xfrm>
            <a:custGeom>
              <a:avLst/>
              <a:gdLst/>
              <a:ahLst/>
              <a:cxnLst/>
              <a:rect r="r" b="b" t="t" l="l"/>
              <a:pathLst>
                <a:path h="900526" w="1476351">
                  <a:moveTo>
                    <a:pt x="0" y="0"/>
                  </a:moveTo>
                  <a:lnTo>
                    <a:pt x="1476351" y="0"/>
                  </a:lnTo>
                  <a:lnTo>
                    <a:pt x="1476351" y="900526"/>
                  </a:lnTo>
                  <a:lnTo>
                    <a:pt x="0" y="900526"/>
                  </a:lnTo>
                  <a:close/>
                </a:path>
              </a:pathLst>
            </a:custGeom>
            <a:solidFill>
              <a:srgbClr val="1A2A6C"/>
            </a:solidFill>
            <a:ln cap="sq">
              <a:noFill/>
              <a:prstDash val="solid"/>
              <a:miter/>
            </a:ln>
          </p:spPr>
        </p:sp>
        <p:sp>
          <p:nvSpPr>
            <p:cNvPr name="TextBox 4" id="4"/>
            <p:cNvSpPr txBox="true"/>
            <p:nvPr/>
          </p:nvSpPr>
          <p:spPr>
            <a:xfrm>
              <a:off x="0" y="-161925"/>
              <a:ext cx="1476351" cy="1062451"/>
            </a:xfrm>
            <a:prstGeom prst="rect">
              <a:avLst/>
            </a:prstGeom>
          </p:spPr>
          <p:txBody>
            <a:bodyPr anchor="ctr" rtlCol="false" tIns="123349" lIns="123349" bIns="123349" rIns="123349"/>
            <a:lstStyle/>
            <a:p>
              <a:pPr algn="ctr" marL="0" indent="0" lvl="0">
                <a:lnSpc>
                  <a:spcPts val="11200"/>
                </a:lnSpc>
                <a:spcBef>
                  <a:spcPct val="0"/>
                </a:spcBef>
              </a:pPr>
            </a:p>
          </p:txBody>
        </p:sp>
      </p:grpSp>
      <p:grpSp>
        <p:nvGrpSpPr>
          <p:cNvPr name="Group 5" id="5"/>
          <p:cNvGrpSpPr/>
          <p:nvPr/>
        </p:nvGrpSpPr>
        <p:grpSpPr>
          <a:xfrm rot="0">
            <a:off x="9296400" y="666750"/>
            <a:ext cx="7191375" cy="7839075"/>
            <a:chOff x="0" y="0"/>
            <a:chExt cx="9588500" cy="10452100"/>
          </a:xfrm>
        </p:grpSpPr>
        <p:sp>
          <p:nvSpPr>
            <p:cNvPr name="TextBox 6" id="6"/>
            <p:cNvSpPr txBox="true"/>
            <p:nvPr/>
          </p:nvSpPr>
          <p:spPr>
            <a:xfrm rot="0">
              <a:off x="0" y="76200"/>
              <a:ext cx="9588500" cy="2871893"/>
            </a:xfrm>
            <a:prstGeom prst="rect">
              <a:avLst/>
            </a:prstGeom>
          </p:spPr>
          <p:txBody>
            <a:bodyPr anchor="t" rtlCol="false" tIns="0" lIns="0" bIns="0" rIns="0">
              <a:spAutoFit/>
            </a:bodyPr>
            <a:lstStyle/>
            <a:p>
              <a:pPr algn="l" marL="0" indent="0" lvl="0">
                <a:lnSpc>
                  <a:spcPts val="8359"/>
                </a:lnSpc>
              </a:pPr>
              <a:r>
                <a:rPr lang="en-US" b="true" sz="7599" spc="-189">
                  <a:solidFill>
                    <a:srgbClr val="1A2A6C"/>
                  </a:solidFill>
                  <a:latin typeface="Garet Bold"/>
                  <a:ea typeface="Garet Bold"/>
                  <a:cs typeface="Garet Bold"/>
                  <a:sym typeface="Garet Bold"/>
                </a:rPr>
                <a:t>Future Roadmap</a:t>
              </a:r>
            </a:p>
          </p:txBody>
        </p:sp>
        <p:sp>
          <p:nvSpPr>
            <p:cNvPr name="TextBox 7" id="7"/>
            <p:cNvSpPr txBox="true"/>
            <p:nvPr/>
          </p:nvSpPr>
          <p:spPr>
            <a:xfrm rot="0">
              <a:off x="0" y="3733376"/>
              <a:ext cx="9588500" cy="6718724"/>
            </a:xfrm>
            <a:prstGeom prst="rect">
              <a:avLst/>
            </a:prstGeom>
          </p:spPr>
          <p:txBody>
            <a:bodyPr anchor="t" rtlCol="false" tIns="0" lIns="0" bIns="0" rIns="0">
              <a:spAutoFit/>
            </a:bodyPr>
            <a:lstStyle/>
            <a:p>
              <a:pPr algn="l" marL="0" indent="0" lvl="0">
                <a:lnSpc>
                  <a:spcPts val="3919"/>
                </a:lnSpc>
              </a:pPr>
              <a:r>
                <a:rPr lang="en-US" sz="2799">
                  <a:solidFill>
                    <a:srgbClr val="1A2A6C"/>
                  </a:solidFill>
                  <a:latin typeface="Helvetica World"/>
                  <a:ea typeface="Helvetica World"/>
                  <a:cs typeface="Helvetica World"/>
                  <a:sym typeface="Helvetica World"/>
                </a:rPr>
                <a:t>The outcomes of our AI-based skin disease detection project showcase a successful prototype capable of </a:t>
              </a:r>
              <a:r>
                <a:rPr lang="en-US" b="true" sz="2799">
                  <a:solidFill>
                    <a:srgbClr val="1A2A6C"/>
                  </a:solidFill>
                  <a:latin typeface="Helvetica World Bold"/>
                  <a:ea typeface="Helvetica World Bold"/>
                  <a:cs typeface="Helvetica World Bold"/>
                  <a:sym typeface="Helvetica World Bold"/>
                </a:rPr>
                <a:t>real-time predictions</a:t>
              </a:r>
              <a:r>
                <a:rPr lang="en-US" sz="2799">
                  <a:solidFill>
                    <a:srgbClr val="1A2A6C"/>
                  </a:solidFill>
                  <a:latin typeface="Helvetica World"/>
                  <a:ea typeface="Helvetica World"/>
                  <a:cs typeface="Helvetica World"/>
                  <a:sym typeface="Helvetica World"/>
                </a:rPr>
                <a:t>. Future enhancements will focus on improving user experience, integrating </a:t>
              </a:r>
              <a:r>
                <a:rPr lang="en-US" b="true" sz="2799">
                  <a:solidFill>
                    <a:srgbClr val="1A2A6C"/>
                  </a:solidFill>
                  <a:latin typeface="Helvetica World Bold"/>
                  <a:ea typeface="Helvetica World Bold"/>
                  <a:cs typeface="Helvetica World Bold"/>
                  <a:sym typeface="Helvetica World Bold"/>
                </a:rPr>
                <a:t>more advanced features</a:t>
              </a:r>
              <a:r>
                <a:rPr lang="en-US" sz="2799">
                  <a:solidFill>
                    <a:srgbClr val="1A2A6C"/>
                  </a:solidFill>
                  <a:latin typeface="Helvetica World"/>
                  <a:ea typeface="Helvetica World"/>
                  <a:cs typeface="Helvetica World"/>
                  <a:sym typeface="Helvetica World"/>
                </a:rPr>
                <a:t>, and gathering user feedback to ensure the system meets the needs of both patients and healthcare professionals effectively. With ongoing development, we aim to expand our capabilities and reach.</a:t>
              </a:r>
            </a:p>
          </p:txBody>
        </p:sp>
      </p:grpSp>
      <p:grpSp>
        <p:nvGrpSpPr>
          <p:cNvPr name="Group 8" id="8"/>
          <p:cNvGrpSpPr/>
          <p:nvPr/>
        </p:nvGrpSpPr>
        <p:grpSpPr>
          <a:xfrm rot="0">
            <a:off x="-39072" y="1318054"/>
            <a:ext cx="8302229" cy="8302196"/>
            <a:chOff x="0" y="0"/>
            <a:chExt cx="11069639" cy="11069594"/>
          </a:xfrm>
        </p:grpSpPr>
        <p:grpSp>
          <p:nvGrpSpPr>
            <p:cNvPr name="Group 9" id="9"/>
            <p:cNvGrpSpPr>
              <a:grpSpLocks noChangeAspect="true"/>
            </p:cNvGrpSpPr>
            <p:nvPr/>
          </p:nvGrpSpPr>
          <p:grpSpPr>
            <a:xfrm rot="0">
              <a:off x="0" y="0"/>
              <a:ext cx="11069639" cy="11069594"/>
              <a:chOff x="0" y="0"/>
              <a:chExt cx="6350000" cy="6349975"/>
            </a:xfrm>
          </p:grpSpPr>
          <p:sp>
            <p:nvSpPr>
              <p:cNvPr name="Freeform 10" id="10"/>
              <p:cNvSpPr/>
              <p:nvPr/>
            </p:nvSpPr>
            <p:spPr>
              <a:xfrm flipH="false" flipV="false" rot="0">
                <a:off x="0" y="0"/>
                <a:ext cx="6350000" cy="6349974"/>
              </a:xfrm>
              <a:custGeom>
                <a:avLst/>
                <a:gdLst/>
                <a:ahLst/>
                <a:cxnLst/>
                <a:rect r="r" b="b" t="t" l="l"/>
                <a:pathLst>
                  <a:path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solidFill>
                <a:srgbClr val="1A2A6C"/>
              </a:solidFill>
              <a:ln w="12700">
                <a:solidFill>
                  <a:srgbClr val="000000"/>
                </a:solidFill>
              </a:ln>
            </p:spPr>
          </p:sp>
        </p:grpSp>
        <p:grpSp>
          <p:nvGrpSpPr>
            <p:cNvPr name="Group 11" id="11"/>
            <p:cNvGrpSpPr/>
            <p:nvPr/>
          </p:nvGrpSpPr>
          <p:grpSpPr>
            <a:xfrm rot="0">
              <a:off x="943769" y="943747"/>
              <a:ext cx="9182100" cy="9182100"/>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0" t="0" r="0" b="0"/>
                </a:stretch>
              </a:blipFill>
            </p:spPr>
          </p:sp>
        </p:grpSp>
      </p:gr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description>Presentation - Detection Using AI</dc:description>
  <dc:identifier>DAG7gDO04Ok</dc:identifier>
  <dcterms:modified xsi:type="dcterms:W3CDTF">2011-08-01T06:04:30Z</dcterms:modified>
  <cp:revision>1</cp:revision>
  <dc:title>Presentation - Detection Using AI</dc:title>
</cp:coreProperties>
</file>